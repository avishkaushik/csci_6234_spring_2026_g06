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62" r:id="rId15"/>
    <p:sldId id="263" r:id="rId16"/>
    <p:sldId id="265" r:id="rId17"/>
    <p:sldId id="266" r:id="rId18"/>
    <p:sldId id="267" r:id="rId19"/>
    <p:sldId id="268" r:id="rId20"/>
    <p:sldId id="269" r:id="rId21"/>
    <p:sldId id="270" r:id="rId22"/>
    <p:sldId id="264" r:id="rId23"/>
    <p:sldId id="271" r:id="rId24"/>
    <p:sldId id="273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76" r:id="rId34"/>
    <p:sldId id="295" r:id="rId35"/>
    <p:sldId id="294" r:id="rId36"/>
    <p:sldId id="297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26"/>
    <p:restoredTop sz="96247"/>
  </p:normalViewPr>
  <p:slideViewPr>
    <p:cSldViewPr snapToGrid="0" snapToObjects="1">
      <p:cViewPr varScale="1">
        <p:scale>
          <a:sx n="134" d="100"/>
          <a:sy n="134" d="100"/>
        </p:scale>
        <p:origin x="208" y="2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smartqueue-sandy.vercel.app/" TargetMode="Externa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164592"/>
            <a:ext cx="3504895" cy="6528816"/>
          </a:xfrm>
          <a:prstGeom prst="rect">
            <a:avLst/>
          </a:prstGeom>
          <a:solidFill>
            <a:srgbClr val="1E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SmartQueue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00A8B5"/>
                </a:solidFill>
              </a:rPr>
              <a:t>Queue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EC8E8"/>
                </a:solidFill>
              </a:rPr>
              <a:t>CSCI 6234 | Object-Oriented Analysis &amp;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82296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9EC8E8"/>
                </a:solidFill>
              </a:rPr>
              <a:t>Spring 2026  |  Group 06</a:t>
            </a:r>
            <a:endParaRPr lang="en-US" sz="1700" b="0" i="0" dirty="0">
              <a:solidFill>
                <a:srgbClr val="9EC8E8"/>
              </a:solidFill>
            </a:endParaRPr>
          </a:p>
          <a:p>
            <a:pPr algn="l"/>
            <a:endParaRPr lang="en-US" sz="1700" dirty="0">
              <a:solidFill>
                <a:srgbClr val="9EC8E8"/>
              </a:solidFill>
            </a:endParaRPr>
          </a:p>
          <a:p>
            <a:pPr algn="l"/>
            <a:r>
              <a:rPr lang="en-US" sz="1700" b="0" i="0" dirty="0">
                <a:solidFill>
                  <a:srgbClr val="9EC8E8"/>
                </a:solidFill>
              </a:rPr>
              <a:t>Yashika LNU</a:t>
            </a:r>
          </a:p>
          <a:p>
            <a:pPr algn="l"/>
            <a:r>
              <a:rPr lang="en-US" sz="1700" dirty="0">
                <a:solidFill>
                  <a:srgbClr val="9EC8E8"/>
                </a:solidFill>
              </a:rPr>
              <a:t>Avish Kaushik</a:t>
            </a:r>
            <a:endParaRPr lang="en-US" sz="1700" b="0" i="0" dirty="0">
              <a:solidFill>
                <a:srgbClr val="9EC8E8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61120" y="22860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A8B5"/>
                </a:solidFill>
              </a:rPr>
              <a:t>Final Project
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3840480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dirty="0">
                <a:solidFill>
                  <a:srgbClr val="9EC8E8"/>
                </a:solidFill>
              </a:rPr>
              <a:t>16</a:t>
            </a:r>
            <a:r>
              <a:rPr lang="en-US" sz="1400" b="0" i="0" baseline="30000" dirty="0">
                <a:solidFill>
                  <a:srgbClr val="9EC8E8"/>
                </a:solidFill>
              </a:rPr>
              <a:t>th</a:t>
            </a:r>
            <a:r>
              <a:rPr lang="en-US" sz="1400" b="0" i="0" dirty="0">
                <a:solidFill>
                  <a:srgbClr val="9EC8E8"/>
                </a:solidFill>
              </a:rPr>
              <a:t>, April</a:t>
            </a:r>
            <a:r>
              <a:rPr sz="1400" b="0" i="0" dirty="0">
                <a:solidFill>
                  <a:srgbClr val="9EC8E8"/>
                </a:solidFill>
              </a:rPr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0263" y="186220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800" b="1" i="0" dirty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800" b="1" i="0" dirty="0">
                <a:solidFill>
                  <a:srgbClr val="1A3A5C"/>
                </a:solidFill>
              </a:rPr>
              <a:t>Project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64208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800" b="1" i="0" dirty="0">
                <a:solidFill>
                  <a:srgbClr val="1A3A5C"/>
                </a:solidFill>
              </a:rPr>
              <a:t>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48256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500" b="0" i="0" dirty="0">
                <a:solidFill>
                  <a:srgbClr val="1E4D78"/>
                </a:solidFill>
              </a:rPr>
              <a:t>Use Case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77873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500" b="0" i="0" dirty="0">
                <a:solidFill>
                  <a:srgbClr val="1E4D78"/>
                </a:solidFill>
              </a:rPr>
              <a:t>Activity Diagram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90147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800" b="1" i="0" dirty="0">
                <a:solidFill>
                  <a:srgbClr val="1A3A5C"/>
                </a:solidFill>
              </a:rPr>
              <a:t>Analysis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27248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500" b="0" i="0" dirty="0">
                <a:solidFill>
                  <a:srgbClr val="1E4D78"/>
                </a:solidFill>
              </a:rPr>
              <a:t>Domain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500" b="0" i="0" dirty="0">
                <a:solidFill>
                  <a:srgbClr val="1E4D78"/>
                </a:solidFill>
              </a:rPr>
              <a:t>Robustness Diagrams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22192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500" b="0" i="0" dirty="0">
                <a:solidFill>
                  <a:srgbClr val="1E4D78"/>
                </a:solidFill>
              </a:rPr>
              <a:t>Collaboration Diagram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169664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800" b="1" i="0" dirty="0">
                <a:solidFill>
                  <a:srgbClr val="1A3A5C"/>
                </a:solidFill>
              </a:rPr>
              <a:t>Design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35424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500" b="0" i="0" dirty="0">
                <a:solidFill>
                  <a:srgbClr val="1E4D78"/>
                </a:solidFill>
              </a:rPr>
              <a:t>Class</a:t>
            </a:r>
            <a:r>
              <a:rPr sz="1500" b="0" i="0" dirty="0">
                <a:solidFill>
                  <a:srgbClr val="1E4D78"/>
                </a:solidFill>
              </a:rPr>
              <a:t> Diagram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55464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500" b="0" i="0" dirty="0">
                <a:solidFill>
                  <a:srgbClr val="1E4D78"/>
                </a:solidFill>
              </a:rPr>
              <a:t>Sequence</a:t>
            </a:r>
            <a:r>
              <a:rPr sz="1500" b="0" i="0" dirty="0">
                <a:solidFill>
                  <a:srgbClr val="1E4D78"/>
                </a:solidFill>
              </a:rPr>
              <a:t> Diagram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263" y="5539255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800" b="1" i="0" dirty="0">
                <a:solidFill>
                  <a:srgbClr val="1A3A5C"/>
                </a:solidFill>
              </a:rPr>
              <a:t>Conclusion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6806D3-2E65-7FF9-2810-3AF0B5E21015}"/>
              </a:ext>
            </a:extLst>
          </p:cNvPr>
          <p:cNvSpPr txBox="1"/>
          <p:nvPr/>
        </p:nvSpPr>
        <p:spPr>
          <a:xfrm>
            <a:off x="280263" y="5139481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A3A5C"/>
                </a:solidFill>
              </a:rPr>
              <a:t>User Interface Design Prototype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0263" y="182880"/>
            <a:ext cx="11704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Project 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303520" cy="2286000"/>
          </a:xfrm>
          <a:prstGeom prst="rect">
            <a:avLst/>
          </a:prstGeom>
          <a:solidFill>
            <a:srgbClr val="E0F7FA"/>
          </a:solidFill>
          <a:ln w="6350">
            <a:solidFill>
              <a:srgbClr val="00A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A3A5C"/>
                </a:solidFill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333333"/>
                </a:solidFill>
              </a:rPr>
              <a:t>Long physical queues cause customer frustration, staff inefficiency, and service bottlenecks.
No real-time visibility into waiting times or appointment scheduling leads to poor service quality.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486400" cy="2286000"/>
          </a:xfrm>
          <a:prstGeom prst="rect">
            <a:avLst/>
          </a:prstGeom>
          <a:solidFill>
            <a:srgbClr val="E0F7FA"/>
          </a:solidFill>
          <a:ln w="6350">
            <a:solidFill>
              <a:srgbClr val="00A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325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A5C"/>
                </a:solidFill>
              </a:rPr>
              <a:t>The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SmartQueue is a digital Queue Management System (QMS) enabling customers to book appointments and join virtual queues remotely — eliminating physical lines and streamlining service delivery.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57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5C"/>
                </a:solidFill>
              </a:rPr>
              <a:t>Key Features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160520"/>
            <a:ext cx="2743200" cy="228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4297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B5"/>
                </a:solidFill>
              </a:rPr>
              <a:t>Virtual Queue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8463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</a:rPr>
              <a:t>Join service queues without physical presence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4160520"/>
            <a:ext cx="2743200" cy="228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0" y="4297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B5"/>
                </a:solidFill>
              </a:rPr>
              <a:t>Appointment Booking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8463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Schedule appointments with date/time selection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160520"/>
            <a:ext cx="2743200" cy="228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4297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B5"/>
                </a:solidFill>
              </a:rPr>
              <a:t>Real-Time Updates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8463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Live queue position and status notifications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81160" y="4160520"/>
            <a:ext cx="2743200" cy="228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0" y="4297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B5"/>
                </a:solidFill>
              </a:rPr>
              <a:t>Role-Based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48463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Customer, Staff, and Admin portals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0263" y="207187"/>
            <a:ext cx="11704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System Actors &amp; Use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3678936" cy="4114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33588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Customer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45109"/>
            <a:ext cx="36332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1" i="0" dirty="0">
                <a:solidFill>
                  <a:srgbClr val="1A3A5C"/>
                </a:solidFill>
              </a:rPr>
              <a:t>Register / 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30436"/>
            <a:ext cx="358749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1" i="0" dirty="0">
                <a:solidFill>
                  <a:srgbClr val="1A3A5C"/>
                </a:solidFill>
              </a:rPr>
              <a:t>Book Appointment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532772"/>
            <a:ext cx="36332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1" i="0" dirty="0">
                <a:solidFill>
                  <a:srgbClr val="1A3A5C"/>
                </a:solidFill>
              </a:rPr>
              <a:t>Cancel Appointment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35108"/>
            <a:ext cx="36332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1A3A5C"/>
                </a:solidFill>
              </a:rPr>
              <a:t>J</a:t>
            </a:r>
            <a:r>
              <a:rPr sz="1500" b="1" i="0" dirty="0">
                <a:solidFill>
                  <a:srgbClr val="1A3A5C"/>
                </a:solidFill>
              </a:rPr>
              <a:t>oin Virtual Queue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10456" y="1234440"/>
            <a:ext cx="3398520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01896" y="1261872"/>
            <a:ext cx="3307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Staff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0456" y="1758802"/>
            <a:ext cx="33985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1" i="0" dirty="0">
                <a:solidFill>
                  <a:srgbClr val="1A3A5C"/>
                </a:solidFill>
              </a:rPr>
              <a:t>Call Next Customer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0456" y="2117090"/>
            <a:ext cx="33985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1" i="0" dirty="0">
                <a:solidFill>
                  <a:srgbClr val="1A3A5C"/>
                </a:solidFill>
              </a:rPr>
              <a:t>Complete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2064" y="1745110"/>
            <a:ext cx="36941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1" i="0" dirty="0">
                <a:solidFill>
                  <a:srgbClr val="1A3A5C"/>
                </a:solidFill>
              </a:rPr>
              <a:t>Manage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2064" y="2068275"/>
            <a:ext cx="36941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1" i="0" dirty="0">
                <a:solidFill>
                  <a:srgbClr val="1A3A5C"/>
                </a:solidFill>
              </a:rPr>
              <a:t>Manage Staff Accounts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29100" y="1226749"/>
            <a:ext cx="60960" cy="5186243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2D4322-DAF9-8749-7781-F5D54D4A601D}"/>
              </a:ext>
            </a:extLst>
          </p:cNvPr>
          <p:cNvSpPr/>
          <p:nvPr/>
        </p:nvSpPr>
        <p:spPr>
          <a:xfrm>
            <a:off x="8132064" y="1240607"/>
            <a:ext cx="3694176" cy="411480"/>
          </a:xfrm>
          <a:prstGeom prst="rect">
            <a:avLst/>
          </a:prstGeom>
          <a:solidFill>
            <a:srgbClr val="1E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78ECEA-BCA4-BD7A-054C-AB5FD3B4C6A1}"/>
              </a:ext>
            </a:extLst>
          </p:cNvPr>
          <p:cNvSpPr/>
          <p:nvPr/>
        </p:nvSpPr>
        <p:spPr>
          <a:xfrm flipH="1">
            <a:off x="7901941" y="1226749"/>
            <a:ext cx="45719" cy="5186243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BE234F-F973-A8EC-A8D2-C2DF20655528}"/>
              </a:ext>
            </a:extLst>
          </p:cNvPr>
          <p:cNvSpPr txBox="1"/>
          <p:nvPr/>
        </p:nvSpPr>
        <p:spPr>
          <a:xfrm>
            <a:off x="8226552" y="1274188"/>
            <a:ext cx="3307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i="0" dirty="0">
                <a:solidFill>
                  <a:srgbClr val="FFFFFF"/>
                </a:solidFill>
              </a:rPr>
              <a:t>Admin</a:t>
            </a:r>
            <a:endParaRPr sz="1400" b="1" i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0263" y="175290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Requirements — Use Case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pic>
        <p:nvPicPr>
          <p:cNvPr id="7" name="Picture 6" descr="UseCase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15" y="1005840"/>
            <a:ext cx="11156065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3333"/>
                </a:solidFill>
              </a:rPr>
              <a:t>SmartQueue supports three actor types: Customer, Staff, and Admin. All use cases include the Register/Login use case.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0263" y="184434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</a:rPr>
              <a:t>Analysis</a:t>
            </a:r>
            <a:r>
              <a:rPr sz="2800" b="1" i="0" dirty="0">
                <a:solidFill>
                  <a:srgbClr val="FFFFFF"/>
                </a:solidFill>
              </a:rPr>
              <a:t> — Activity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208FEF-580E-5B7D-FD5B-CBC5B313CA1C}"/>
              </a:ext>
            </a:extLst>
          </p:cNvPr>
          <p:cNvSpPr txBox="1"/>
          <p:nvPr/>
        </p:nvSpPr>
        <p:spPr>
          <a:xfrm>
            <a:off x="182880" y="1871411"/>
            <a:ext cx="5497082" cy="4486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User opens the login/register page.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User enters email and password.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User chooses whether to register or log in.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If registering (Customer only), user enters required details.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User submits the registration form.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System creates a new customer account.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System shows registration confirmation.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If logging in, user submits login request.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System validates the credentials.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System checks whether credentials are valid.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If valid, system displays the appropriate dashboard.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If invalid, system displays an error message.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A0A890-49C9-F228-B71A-9C8B93F97CB1}"/>
              </a:ext>
            </a:extLst>
          </p:cNvPr>
          <p:cNvSpPr txBox="1"/>
          <p:nvPr/>
        </p:nvSpPr>
        <p:spPr>
          <a:xfrm>
            <a:off x="280263" y="1298864"/>
            <a:ext cx="5497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A3A5C"/>
                </a:solidFill>
              </a:rPr>
              <a:t>Use Case 1 – Register/Login</a:t>
            </a:r>
            <a:endParaRPr lang="en-US" sz="1800" b="1" i="0" dirty="0">
              <a:solidFill>
                <a:srgbClr val="1A3A5C"/>
              </a:solidFill>
            </a:endParaRPr>
          </a:p>
          <a:p>
            <a:endParaRPr lang="en-US" dirty="0"/>
          </a:p>
        </p:txBody>
      </p:sp>
      <p:pic>
        <p:nvPicPr>
          <p:cNvPr id="16" name="Picture 15" descr="A diagram of a login&#10;&#10;Description automatically generated">
            <a:extLst>
              <a:ext uri="{FF2B5EF4-FFF2-40B4-BE49-F238E27FC236}">
                <a16:creationId xmlns:a16="http://schemas.microsoft.com/office/drawing/2014/main" id="{5BC8A007-23DE-DCD4-760E-A018E7B5A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6" y="1298863"/>
            <a:ext cx="5272369" cy="50905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597EFC-E978-1DE3-D9A1-FE3DB59E7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04CE8D-5279-A8A1-6B9A-9775A686C837}"/>
              </a:ext>
            </a:extLst>
          </p:cNvPr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4C8752-42CB-A0B3-6968-A3D645D23E73}"/>
              </a:ext>
            </a:extLst>
          </p:cNvPr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157063-63FA-D295-26C8-6A2ABAE0B03B}"/>
              </a:ext>
            </a:extLst>
          </p:cNvPr>
          <p:cNvSpPr txBox="1"/>
          <p:nvPr/>
        </p:nvSpPr>
        <p:spPr>
          <a:xfrm>
            <a:off x="280263" y="184434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</a:rPr>
              <a:t>Analysis</a:t>
            </a:r>
            <a:r>
              <a:rPr sz="2800" b="1" i="0" dirty="0">
                <a:solidFill>
                  <a:srgbClr val="FFFFFF"/>
                </a:solidFill>
              </a:rPr>
              <a:t> — Activity Diagram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6F4326-118D-C3C6-9249-5E500DA9CB19}"/>
              </a:ext>
            </a:extLst>
          </p:cNvPr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494470-43AC-9896-061C-85C3D73CE57A}"/>
              </a:ext>
            </a:extLst>
          </p:cNvPr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77863A-C426-4DDB-BFC3-2B100DF76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835" y="1245176"/>
            <a:ext cx="5768374" cy="48854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B78C603-739B-60FC-09CC-18E300F85441}"/>
              </a:ext>
            </a:extLst>
          </p:cNvPr>
          <p:cNvSpPr txBox="1"/>
          <p:nvPr/>
        </p:nvSpPr>
        <p:spPr>
          <a:xfrm>
            <a:off x="182880" y="1871411"/>
            <a:ext cx="5497082" cy="2270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Customer selects service, date, and time.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Customer submits the booking request.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System checks availability of the selected slot.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If available, the system creates the appointment.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System displays booking confirmation.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If not available, system shows an error message.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C4BCA3-1D3D-851B-C96C-4AA62ED43CC1}"/>
              </a:ext>
            </a:extLst>
          </p:cNvPr>
          <p:cNvSpPr txBox="1"/>
          <p:nvPr/>
        </p:nvSpPr>
        <p:spPr>
          <a:xfrm>
            <a:off x="280263" y="1298864"/>
            <a:ext cx="5497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A3A5C"/>
                </a:solidFill>
              </a:rPr>
              <a:t>Use Case 2 - Book Appointment</a:t>
            </a:r>
            <a:endParaRPr lang="en-US" sz="1800" b="1" i="0" dirty="0">
              <a:solidFill>
                <a:srgbClr val="1A3A5C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792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338D5-06CD-00F3-FFB0-CCE6961C4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833220-2EE0-8387-ED97-AC4B5D63F4FD}"/>
              </a:ext>
            </a:extLst>
          </p:cNvPr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171C89-41DF-96F2-72B8-818BB4861989}"/>
              </a:ext>
            </a:extLst>
          </p:cNvPr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B093A9-2B9B-0322-4B83-6EE2D4EC0862}"/>
              </a:ext>
            </a:extLst>
          </p:cNvPr>
          <p:cNvSpPr txBox="1"/>
          <p:nvPr/>
        </p:nvSpPr>
        <p:spPr>
          <a:xfrm>
            <a:off x="280263" y="184434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</a:rPr>
              <a:t>Analysis</a:t>
            </a:r>
            <a:r>
              <a:rPr sz="2800" b="1" i="0" dirty="0">
                <a:solidFill>
                  <a:srgbClr val="FFFFFF"/>
                </a:solidFill>
              </a:rPr>
              <a:t> — Activity Diagram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08ECA6-7E7B-082C-C8C2-C5F634A80016}"/>
              </a:ext>
            </a:extLst>
          </p:cNvPr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77200F-240B-299F-7EA6-FBEEEF3B69E0}"/>
              </a:ext>
            </a:extLst>
          </p:cNvPr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2A514B-6979-668C-8BC9-573261CE16EB}"/>
              </a:ext>
            </a:extLst>
          </p:cNvPr>
          <p:cNvSpPr txBox="1"/>
          <p:nvPr/>
        </p:nvSpPr>
        <p:spPr>
          <a:xfrm>
            <a:off x="182880" y="1871411"/>
            <a:ext cx="5497082" cy="2639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Customer selects the appointment they want to cancel.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Customer submits the cancellation request.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System checks that the appointment exists and can be cancelled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If valid, the system marks the appointment as Cancelled.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System shows a confirmation message.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If not available, system shows an error message.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FA999F-E2CB-2220-E03F-A70832CB91D0}"/>
              </a:ext>
            </a:extLst>
          </p:cNvPr>
          <p:cNvSpPr txBox="1"/>
          <p:nvPr/>
        </p:nvSpPr>
        <p:spPr>
          <a:xfrm>
            <a:off x="280263" y="1298864"/>
            <a:ext cx="5497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A3A5C"/>
                </a:solidFill>
              </a:rPr>
              <a:t>Use Case 3 - Cancel Appointment</a:t>
            </a:r>
            <a:endParaRPr lang="en-US" sz="1800" b="1" i="0" dirty="0">
              <a:solidFill>
                <a:srgbClr val="1A3A5C"/>
              </a:solidFill>
            </a:endParaRPr>
          </a:p>
          <a:p>
            <a:endParaRPr lang="en-US" dirty="0"/>
          </a:p>
        </p:txBody>
      </p:sp>
      <p:pic>
        <p:nvPicPr>
          <p:cNvPr id="8" name="Picture 7" descr="A flowchart of a appointment&#10;&#10;Description automatically generated">
            <a:extLst>
              <a:ext uri="{FF2B5EF4-FFF2-40B4-BE49-F238E27FC236}">
                <a16:creationId xmlns:a16="http://schemas.microsoft.com/office/drawing/2014/main" id="{513D84BC-492B-1119-3C20-C35F44281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284" y="1298864"/>
            <a:ext cx="5497082" cy="469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529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AFFF09-D159-A11E-CA85-84FE4151D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BC2BE8-FA9F-1576-1C22-6CBD99031F7E}"/>
              </a:ext>
            </a:extLst>
          </p:cNvPr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DF6DCB-22B0-3C6E-0060-6D983F2D14B4}"/>
              </a:ext>
            </a:extLst>
          </p:cNvPr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D32F80-F897-DAB9-2E56-945BB75F22AD}"/>
              </a:ext>
            </a:extLst>
          </p:cNvPr>
          <p:cNvSpPr txBox="1"/>
          <p:nvPr/>
        </p:nvSpPr>
        <p:spPr>
          <a:xfrm>
            <a:off x="280263" y="184434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</a:rPr>
              <a:t>Analysis</a:t>
            </a:r>
            <a:r>
              <a:rPr sz="2800" b="1" i="0" dirty="0">
                <a:solidFill>
                  <a:srgbClr val="FFFFFF"/>
                </a:solidFill>
              </a:rPr>
              <a:t> — Activity Diagram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E22DD1-E01D-BC70-4E20-294826F2E882}"/>
              </a:ext>
            </a:extLst>
          </p:cNvPr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B342B9-6E22-2C3C-4CD9-D3AC4EEC79C5}"/>
              </a:ext>
            </a:extLst>
          </p:cNvPr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D413D6-C044-0A43-03D4-024354647308}"/>
              </a:ext>
            </a:extLst>
          </p:cNvPr>
          <p:cNvSpPr txBox="1"/>
          <p:nvPr/>
        </p:nvSpPr>
        <p:spPr>
          <a:xfrm>
            <a:off x="182880" y="1871411"/>
            <a:ext cx="5497082" cy="3008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Customer selects the service to join the virtual queue.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Customer submits a request to join the queue.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System checks whether the queue is available.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If available, the system creates a queue entry.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System assigns a queue number and position.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System displays the queue number and current position.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If the queue is unavailable, the system shows an error message.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EB055F-77E3-C4E7-8C7D-225721097B35}"/>
              </a:ext>
            </a:extLst>
          </p:cNvPr>
          <p:cNvSpPr txBox="1"/>
          <p:nvPr/>
        </p:nvSpPr>
        <p:spPr>
          <a:xfrm>
            <a:off x="280263" y="1298864"/>
            <a:ext cx="5497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A3A5C"/>
                </a:solidFill>
              </a:rPr>
              <a:t>Use Case 4 - Join Virtual Queue</a:t>
            </a:r>
            <a:endParaRPr lang="en-US" sz="1800" b="1" i="0" dirty="0">
              <a:solidFill>
                <a:srgbClr val="1A3A5C"/>
              </a:solidFill>
            </a:endParaRPr>
          </a:p>
          <a:p>
            <a:endParaRPr lang="en-US" dirty="0"/>
          </a:p>
        </p:txBody>
      </p:sp>
      <p:pic>
        <p:nvPicPr>
          <p:cNvPr id="8" name="Picture 7" descr="A diagram of a program&#10;&#10;Description automatically generated">
            <a:extLst>
              <a:ext uri="{FF2B5EF4-FFF2-40B4-BE49-F238E27FC236}">
                <a16:creationId xmlns:a16="http://schemas.microsoft.com/office/drawing/2014/main" id="{1423B37D-6CD6-37BA-3FE9-2DC153A46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962" y="1298864"/>
            <a:ext cx="6126951" cy="4627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526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A6F1F6-AFE3-A608-2FB5-1EE7021B7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CF58B7-08E8-F7C0-B008-0C46197B6ABA}"/>
              </a:ext>
            </a:extLst>
          </p:cNvPr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025549-2D4D-E055-7268-3AF692668F9C}"/>
              </a:ext>
            </a:extLst>
          </p:cNvPr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78CCCF-ED6D-2983-B341-B288E51995A3}"/>
              </a:ext>
            </a:extLst>
          </p:cNvPr>
          <p:cNvSpPr txBox="1"/>
          <p:nvPr/>
        </p:nvSpPr>
        <p:spPr>
          <a:xfrm>
            <a:off x="280263" y="184434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</a:rPr>
              <a:t>Analysis</a:t>
            </a:r>
            <a:r>
              <a:rPr sz="2800" b="1" i="0" dirty="0">
                <a:solidFill>
                  <a:srgbClr val="FFFFFF"/>
                </a:solidFill>
              </a:rPr>
              <a:t> — Activity Diagram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EC28B1-BF2B-D2FF-C8EA-6E53B7BC7BC7}"/>
              </a:ext>
            </a:extLst>
          </p:cNvPr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E09812-B3E4-438D-E214-878D3F4A8935}"/>
              </a:ext>
            </a:extLst>
          </p:cNvPr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5AAB0A-4ED4-7AD2-57EC-8ACB6FB4CE9D}"/>
              </a:ext>
            </a:extLst>
          </p:cNvPr>
          <p:cNvSpPr txBox="1"/>
          <p:nvPr/>
        </p:nvSpPr>
        <p:spPr>
          <a:xfrm>
            <a:off x="182880" y="1871411"/>
            <a:ext cx="5497082" cy="33781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Admin selects the Manage Services option.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Admin chooses to create, update, or delete a service.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System evaluates which operation was selected.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If Create is selected, admin enters service details.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If Update is selected, admin modifies service details.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System saves the updated service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If Delete is selected, admin selects a service to remove.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System deletes the selected service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System displays the updated list of services.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B09C3D-886C-6AA7-2C01-258273F63E10}"/>
              </a:ext>
            </a:extLst>
          </p:cNvPr>
          <p:cNvSpPr txBox="1"/>
          <p:nvPr/>
        </p:nvSpPr>
        <p:spPr>
          <a:xfrm>
            <a:off x="280263" y="1298864"/>
            <a:ext cx="5497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A3A5C"/>
                </a:solidFill>
              </a:rPr>
              <a:t>Use Case 5 - Manage Service</a:t>
            </a:r>
            <a:endParaRPr lang="en-US" sz="1800" b="1" i="0" dirty="0">
              <a:solidFill>
                <a:srgbClr val="1A3A5C"/>
              </a:solidFill>
            </a:endParaRP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6FA981-1A40-C809-EF28-53D2D6D2C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137" y="1265751"/>
            <a:ext cx="5274795" cy="525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044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624F27-22B5-D8C6-3E8A-2EE013C83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FD6BF9-1916-677A-E8E4-7CA4BBABA182}"/>
              </a:ext>
            </a:extLst>
          </p:cNvPr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9BA052-EC9A-51EA-1C8A-FB91D5A8BD72}"/>
              </a:ext>
            </a:extLst>
          </p:cNvPr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C01C98-54EC-6887-85B9-B0DCAB876D3F}"/>
              </a:ext>
            </a:extLst>
          </p:cNvPr>
          <p:cNvSpPr txBox="1"/>
          <p:nvPr/>
        </p:nvSpPr>
        <p:spPr>
          <a:xfrm>
            <a:off x="280263" y="184434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</a:rPr>
              <a:t>Analysis</a:t>
            </a:r>
            <a:r>
              <a:rPr sz="2800" b="1" i="0" dirty="0">
                <a:solidFill>
                  <a:srgbClr val="FFFFFF"/>
                </a:solidFill>
              </a:rPr>
              <a:t> — Activity Diagram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89EA86-2627-C374-C4D7-1CA02610A275}"/>
              </a:ext>
            </a:extLst>
          </p:cNvPr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88FBC1-F543-5551-E61C-216344A6E049}"/>
              </a:ext>
            </a:extLst>
          </p:cNvPr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8A8B9B-AB77-036B-CA9A-BE2C4713E67B}"/>
              </a:ext>
            </a:extLst>
          </p:cNvPr>
          <p:cNvSpPr txBox="1"/>
          <p:nvPr/>
        </p:nvSpPr>
        <p:spPr>
          <a:xfrm>
            <a:off x="182880" y="1871411"/>
            <a:ext cx="5497082" cy="4116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Admin selects the Manage Staff Accounts option.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Admin chooses to create, update, or delete a staff account.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System evaluates which operation was selected.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If Create is selected, admin enters the staff details.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System creates the new staff account.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If Update is selected, admin selects an existing staff account.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Admin modifies staff details and/or permissions.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System saves the updated staff account.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If Delete is selected, admin selects a staff account to delete.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System removes the selected staff account.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System displays the updated list of staff accounts.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F20C51-C4C6-78EF-6EDA-6EAB54904281}"/>
              </a:ext>
            </a:extLst>
          </p:cNvPr>
          <p:cNvSpPr txBox="1"/>
          <p:nvPr/>
        </p:nvSpPr>
        <p:spPr>
          <a:xfrm>
            <a:off x="280263" y="1298864"/>
            <a:ext cx="5497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A3A5C"/>
                </a:solidFill>
              </a:rPr>
              <a:t>Use Case 6 - Manage Staff Account</a:t>
            </a:r>
            <a:endParaRPr lang="en-US" sz="1800" b="1" i="0" dirty="0">
              <a:solidFill>
                <a:srgbClr val="1A3A5C"/>
              </a:solidFill>
            </a:endParaRPr>
          </a:p>
          <a:p>
            <a:endParaRPr lang="en-US" dirty="0"/>
          </a:p>
        </p:txBody>
      </p:sp>
      <p:pic>
        <p:nvPicPr>
          <p:cNvPr id="8" name="Picture 7" descr="A diagram of staff accounts&#10;&#10;Description automatically generated">
            <a:extLst>
              <a:ext uri="{FF2B5EF4-FFF2-40B4-BE49-F238E27FC236}">
                <a16:creationId xmlns:a16="http://schemas.microsoft.com/office/drawing/2014/main" id="{140D9B71-DCE7-7D9C-EF4E-736240F48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656" y="1293681"/>
            <a:ext cx="4764089" cy="493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491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D80D29-8A10-11E5-C4FD-A019E684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C2B752-5789-319F-ACAF-61EBFAB8289C}"/>
              </a:ext>
            </a:extLst>
          </p:cNvPr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7E8B00-1FBD-22C4-35A6-6CB1CE1789A0}"/>
              </a:ext>
            </a:extLst>
          </p:cNvPr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6D67D4-9547-3496-247C-4A42C371F607}"/>
              </a:ext>
            </a:extLst>
          </p:cNvPr>
          <p:cNvSpPr txBox="1"/>
          <p:nvPr/>
        </p:nvSpPr>
        <p:spPr>
          <a:xfrm>
            <a:off x="280263" y="184434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</a:rPr>
              <a:t>Analysis</a:t>
            </a:r>
            <a:r>
              <a:rPr sz="2800" b="1" i="0" dirty="0">
                <a:solidFill>
                  <a:srgbClr val="FFFFFF"/>
                </a:solidFill>
              </a:rPr>
              <a:t> — Activity Diagram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9B305E-FACF-FD25-6C09-264DABC7531A}"/>
              </a:ext>
            </a:extLst>
          </p:cNvPr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957705-6606-339D-AB38-CBDDBE20B1E1}"/>
              </a:ext>
            </a:extLst>
          </p:cNvPr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AF8E1F-8A5B-0289-7D04-C0CEB4CD81C3}"/>
              </a:ext>
            </a:extLst>
          </p:cNvPr>
          <p:cNvSpPr txBox="1"/>
          <p:nvPr/>
        </p:nvSpPr>
        <p:spPr>
          <a:xfrm>
            <a:off x="182880" y="1871411"/>
            <a:ext cx="5497082" cy="4486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Staff chooses the option to call the next customer.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System gets the next customer from the appointment list or virtual queue.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System checks if there is an available customer to serve.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If available, system displays the customer’s details to staff.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System updates the customer/service status to "In Service".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Staff provides the service.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System updates the status to "Completed".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System removes the customer from the active queue if they came from the queue.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If no customer is available, system shows a message indicating none are waiting.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119DE3-CD4E-ACE1-9F38-7C1E61BD3F18}"/>
              </a:ext>
            </a:extLst>
          </p:cNvPr>
          <p:cNvSpPr txBox="1"/>
          <p:nvPr/>
        </p:nvSpPr>
        <p:spPr>
          <a:xfrm>
            <a:off x="280263" y="1298864"/>
            <a:ext cx="5497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A3A5C"/>
                </a:solidFill>
              </a:rPr>
              <a:t>Use Case 7 - Call Customer and Complete Service</a:t>
            </a:r>
            <a:endParaRPr lang="en-US" sz="1800" b="1" i="0" dirty="0">
              <a:solidFill>
                <a:srgbClr val="1A3A5C"/>
              </a:solidFill>
            </a:endParaRPr>
          </a:p>
          <a:p>
            <a:endParaRPr lang="en-US" dirty="0"/>
          </a:p>
        </p:txBody>
      </p:sp>
      <p:pic>
        <p:nvPicPr>
          <p:cNvPr id="8" name="Picture 7" descr="A diagram of a customer service&#10;&#10;Description automatically generated">
            <a:extLst>
              <a:ext uri="{FF2B5EF4-FFF2-40B4-BE49-F238E27FC236}">
                <a16:creationId xmlns:a16="http://schemas.microsoft.com/office/drawing/2014/main" id="{81EB1227-D70C-7878-B5FB-33953D3D6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317" y="1298864"/>
            <a:ext cx="6435803" cy="491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196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7A1739-5149-AB17-0594-83DD8A2C6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BACF70-B051-81DD-9C69-8694CF90DE0A}"/>
              </a:ext>
            </a:extLst>
          </p:cNvPr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091B84-112F-4A7C-557F-8CA746540F92}"/>
              </a:ext>
            </a:extLst>
          </p:cNvPr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373E48-B68B-CDD0-C49F-782AB8775010}"/>
              </a:ext>
            </a:extLst>
          </p:cNvPr>
          <p:cNvSpPr txBox="1"/>
          <p:nvPr/>
        </p:nvSpPr>
        <p:spPr>
          <a:xfrm>
            <a:off x="280263" y="184434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</a:rPr>
              <a:t>Analysis</a:t>
            </a:r>
            <a:r>
              <a:rPr sz="2800" b="1" i="0" dirty="0">
                <a:solidFill>
                  <a:srgbClr val="FFFFFF"/>
                </a:solidFill>
              </a:rPr>
              <a:t> — Activity Diagram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77111B-4D88-19B8-A711-6FA1D5D3D294}"/>
              </a:ext>
            </a:extLst>
          </p:cNvPr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4D316B-03C7-69A4-CACD-4294CB2CC19D}"/>
              </a:ext>
            </a:extLst>
          </p:cNvPr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A45625-A8DA-47B4-62DF-0690D078A8E5}"/>
              </a:ext>
            </a:extLst>
          </p:cNvPr>
          <p:cNvSpPr txBox="1"/>
          <p:nvPr/>
        </p:nvSpPr>
        <p:spPr>
          <a:xfrm>
            <a:off x="182880" y="1871411"/>
            <a:ext cx="5497082" cy="2639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User enters their email and password.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User submits the login request.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System validates the entered credentials.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System checks whether the credentials are valid.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If invalid, the system displays a message indicating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      the email or password is incorrect.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If valid, the system redirects the user to their dashboard.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347EA7-BA68-8748-D1E9-2A985E69FBEF}"/>
              </a:ext>
            </a:extLst>
          </p:cNvPr>
          <p:cNvSpPr txBox="1"/>
          <p:nvPr/>
        </p:nvSpPr>
        <p:spPr>
          <a:xfrm>
            <a:off x="280263" y="1298864"/>
            <a:ext cx="5497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A3A5C"/>
                </a:solidFill>
              </a:rPr>
              <a:t>Use Case 8 - Handle Invalid Credentials</a:t>
            </a:r>
            <a:endParaRPr lang="en-US" sz="1800" b="1" i="0" dirty="0">
              <a:solidFill>
                <a:srgbClr val="1A3A5C"/>
              </a:solidFill>
            </a:endParaRPr>
          </a:p>
          <a:p>
            <a:endParaRPr lang="en-US" dirty="0"/>
          </a:p>
        </p:txBody>
      </p:sp>
      <p:pic>
        <p:nvPicPr>
          <p:cNvPr id="8" name="Picture 7" descr="A diagram of a system&#10;&#10;Description automatically generated">
            <a:extLst>
              <a:ext uri="{FF2B5EF4-FFF2-40B4-BE49-F238E27FC236}">
                <a16:creationId xmlns:a16="http://schemas.microsoft.com/office/drawing/2014/main" id="{D9832E0F-C6CE-6D1B-71EE-17327C365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111" y="1321055"/>
            <a:ext cx="6464235" cy="394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639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0263" y="207294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Analysis — Domain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99" y="637336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 dirty="0">
                <a:solidFill>
                  <a:srgbClr val="333333"/>
                </a:solidFill>
              </a:rPr>
              <a:t>Core entities: User (Customer / Staff / Admin), Service, Appointment, Queue, </a:t>
            </a:r>
            <a:r>
              <a:rPr sz="1200" b="0" i="1" dirty="0" err="1">
                <a:solidFill>
                  <a:srgbClr val="333333"/>
                </a:solidFill>
              </a:rPr>
              <a:t>QueueEntry</a:t>
            </a:r>
            <a:r>
              <a:rPr sz="1200" b="0" i="1" dirty="0">
                <a:solidFill>
                  <a:srgbClr val="333333"/>
                </a:solidFill>
              </a:rPr>
              <a:t>. Customer books Appointments; Service has a Queue; Queue contains </a:t>
            </a:r>
            <a:r>
              <a:rPr sz="1200" b="0" i="1" dirty="0" err="1">
                <a:solidFill>
                  <a:srgbClr val="333333"/>
                </a:solidFill>
              </a:rPr>
              <a:t>QueueEntries</a:t>
            </a:r>
            <a:r>
              <a:rPr sz="1200" b="0" i="1" dirty="0">
                <a:solidFill>
                  <a:srgbClr val="333333"/>
                </a:solidFill>
              </a:rPr>
              <a:t>.</a:t>
            </a:r>
          </a:p>
        </p:txBody>
      </p:sp>
      <p:pic>
        <p:nvPicPr>
          <p:cNvPr id="11" name="Content Placeholder 6" descr="A diagram of a server&#10;&#10;Description automatically generated">
            <a:extLst>
              <a:ext uri="{FF2B5EF4-FFF2-40B4-BE49-F238E27FC236}">
                <a16:creationId xmlns:a16="http://schemas.microsoft.com/office/drawing/2014/main" id="{A432F444-A1C4-19FA-80C7-79E728E72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739" y="1041582"/>
            <a:ext cx="7645037" cy="520460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04800" y="131741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Analysis —</a:t>
            </a:r>
            <a:r>
              <a:rPr lang="en-US" sz="2800" b="1" i="0" dirty="0">
                <a:solidFill>
                  <a:srgbClr val="FFFFFF"/>
                </a:solidFill>
              </a:rPr>
              <a:t> Robustness </a:t>
            </a:r>
            <a:r>
              <a:rPr sz="2800" b="1" i="0" dirty="0">
                <a:solidFill>
                  <a:srgbClr val="FFFFFF"/>
                </a:solidFill>
              </a:rPr>
              <a:t>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632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chemeClr val="bg1"/>
                </a:solidFill>
              </a:rPr>
              <a:t>Robustness / Sequence Diagram (Actor → Boundary → Control → Entity)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pic>
        <p:nvPicPr>
          <p:cNvPr id="8" name="Picture 7" descr="RegisterOr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28206"/>
            <a:ext cx="11704320" cy="44971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7591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3333"/>
                </a:solidFill>
              </a:rPr>
              <a:t>Actor → Login Page → Authentication Controller → User Entity. Credentials validated; success or error returned.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4B7E9C-3DE1-D944-76E2-33E635735EDC}"/>
              </a:ext>
            </a:extLst>
          </p:cNvPr>
          <p:cNvSpPr txBox="1"/>
          <p:nvPr/>
        </p:nvSpPr>
        <p:spPr>
          <a:xfrm>
            <a:off x="304800" y="1180161"/>
            <a:ext cx="5497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A3A5C"/>
                </a:solidFill>
              </a:rPr>
              <a:t>Use Case 1 – Register/Login</a:t>
            </a:r>
            <a:endParaRPr lang="en-US" sz="1800" b="1" i="0" dirty="0">
              <a:solidFill>
                <a:srgbClr val="1A3A5C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0263" y="204385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Analysis — </a:t>
            </a:r>
            <a:r>
              <a:rPr lang="en-US" sz="2800" b="1" i="0" dirty="0">
                <a:solidFill>
                  <a:srgbClr val="FFFFFF"/>
                </a:solidFill>
              </a:rPr>
              <a:t>Robustness</a:t>
            </a:r>
            <a:r>
              <a:rPr sz="2800" b="1" i="0" dirty="0">
                <a:solidFill>
                  <a:srgbClr val="FFFFFF"/>
                </a:solidFill>
              </a:rPr>
              <a:t>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pic>
        <p:nvPicPr>
          <p:cNvPr id="8" name="Picture 7" descr="BookAppoin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" y="2718862"/>
            <a:ext cx="11704320" cy="14202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3333"/>
                </a:solidFill>
              </a:rPr>
              <a:t>Customer selects Service, Date, and Time Slot. Controller checks availability; creates Appointment entity on success.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6FD0C5-111E-66F9-BF6A-FAC029413676}"/>
              </a:ext>
            </a:extLst>
          </p:cNvPr>
          <p:cNvSpPr txBox="1"/>
          <p:nvPr/>
        </p:nvSpPr>
        <p:spPr>
          <a:xfrm>
            <a:off x="304800" y="1180161"/>
            <a:ext cx="5497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A3A5C"/>
                </a:solidFill>
              </a:rPr>
              <a:t>Use Case 2 – Book Appointment</a:t>
            </a:r>
            <a:endParaRPr lang="en-US" sz="1800" b="1" i="0" dirty="0">
              <a:solidFill>
                <a:srgbClr val="1A3A5C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3687" y="201167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Analysis — </a:t>
            </a:r>
            <a:r>
              <a:rPr lang="en-US" sz="2800" b="1" i="0" dirty="0">
                <a:solidFill>
                  <a:srgbClr val="FFFFFF"/>
                </a:solidFill>
              </a:rPr>
              <a:t>Robustness</a:t>
            </a:r>
            <a:r>
              <a:rPr sz="2800" b="1" i="0" dirty="0">
                <a:solidFill>
                  <a:srgbClr val="FFFFFF"/>
                </a:solidFill>
              </a:rPr>
              <a:t>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pic>
        <p:nvPicPr>
          <p:cNvPr id="8" name="Picture 7" descr="CancelAppoin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" y="3043044"/>
            <a:ext cx="11704320" cy="7719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3333"/>
                </a:solidFill>
              </a:rPr>
              <a:t>Customer selects an existing appointment. Controller updates Appointment status to CANCELLED.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F5604F-6835-D393-F190-5C9FC867573F}"/>
              </a:ext>
            </a:extLst>
          </p:cNvPr>
          <p:cNvSpPr txBox="1"/>
          <p:nvPr/>
        </p:nvSpPr>
        <p:spPr>
          <a:xfrm>
            <a:off x="304800" y="1180161"/>
            <a:ext cx="5497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A3A5C"/>
                </a:solidFill>
              </a:rPr>
              <a:t>Use Case 3 – Cancel Appointment</a:t>
            </a:r>
            <a:endParaRPr lang="en-US" sz="1800" b="1" i="0" dirty="0">
              <a:solidFill>
                <a:srgbClr val="1A3A5C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0263" y="201167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Analysis — </a:t>
            </a:r>
            <a:r>
              <a:rPr lang="en-US" sz="2800" b="1" i="0" dirty="0">
                <a:solidFill>
                  <a:srgbClr val="FFFFFF"/>
                </a:solidFill>
              </a:rPr>
              <a:t>Robustness</a:t>
            </a:r>
            <a:r>
              <a:rPr sz="2800" b="1" i="0" dirty="0">
                <a:solidFill>
                  <a:srgbClr val="FFFFFF"/>
                </a:solidFill>
              </a:rPr>
              <a:t>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pic>
        <p:nvPicPr>
          <p:cNvPr id="8" name="Picture 7" descr="JoinVirtual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" y="2751381"/>
            <a:ext cx="11704320" cy="13552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3333"/>
                </a:solidFill>
              </a:rPr>
              <a:t>Customer requests to join a service queue. Controller adds QueueEntry and returns the assigned queue position.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18DC26-FA34-A3E6-FFB7-F543B73D7B1C}"/>
              </a:ext>
            </a:extLst>
          </p:cNvPr>
          <p:cNvSpPr txBox="1"/>
          <p:nvPr/>
        </p:nvSpPr>
        <p:spPr>
          <a:xfrm>
            <a:off x="304800" y="1180161"/>
            <a:ext cx="5497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A3A5C"/>
                </a:solidFill>
              </a:rPr>
              <a:t>Use Case 4 – Join Virtual Queue</a:t>
            </a:r>
            <a:endParaRPr lang="en-US" sz="1800" b="1" i="0" dirty="0">
              <a:solidFill>
                <a:srgbClr val="1A3A5C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0263" y="201167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Analysis — </a:t>
            </a:r>
            <a:r>
              <a:rPr lang="en-US" sz="2800" b="1" i="0" dirty="0">
                <a:solidFill>
                  <a:srgbClr val="FFFFFF"/>
                </a:solidFill>
              </a:rPr>
              <a:t>Robustness</a:t>
            </a:r>
            <a:r>
              <a:rPr sz="2800" b="1" i="0" dirty="0">
                <a:solidFill>
                  <a:srgbClr val="FFFFFF"/>
                </a:solidFill>
              </a:rPr>
              <a:t>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pic>
        <p:nvPicPr>
          <p:cNvPr id="8" name="Picture 7" descr="CallCustomerAndCompleteSer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" y="2441888"/>
            <a:ext cx="11704320" cy="19742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3333"/>
                </a:solidFill>
              </a:rPr>
              <a:t>Staff calls next customer from the Queue Management page. Controller retrieves next appointment/queue entry and updates statuses.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3F37AB-FD16-977F-0C7E-D1829E8BACBA}"/>
              </a:ext>
            </a:extLst>
          </p:cNvPr>
          <p:cNvSpPr txBox="1"/>
          <p:nvPr/>
        </p:nvSpPr>
        <p:spPr>
          <a:xfrm>
            <a:off x="304800" y="1180161"/>
            <a:ext cx="5497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A3A5C"/>
                </a:solidFill>
              </a:rPr>
              <a:t>Use Case 5 – Call Customer and Complete Service</a:t>
            </a:r>
            <a:endParaRPr lang="en-US" sz="1800" b="1" i="0" dirty="0">
              <a:solidFill>
                <a:srgbClr val="1A3A5C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0263" y="228600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Analysis — </a:t>
            </a:r>
            <a:r>
              <a:rPr lang="en-US" sz="2800" b="1" i="0" dirty="0">
                <a:solidFill>
                  <a:srgbClr val="FFFFFF"/>
                </a:solidFill>
              </a:rPr>
              <a:t>Robustness</a:t>
            </a:r>
            <a:r>
              <a:rPr sz="2800" b="1" i="0" dirty="0">
                <a:solidFill>
                  <a:srgbClr val="FFFFFF"/>
                </a:solidFill>
              </a:rPr>
              <a:t>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pic>
        <p:nvPicPr>
          <p:cNvPr id="8" name="Picture 7" descr="ManageSer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" y="2561027"/>
            <a:ext cx="11704320" cy="173594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3333"/>
                </a:solidFill>
              </a:rPr>
              <a:t>Admin performs CRUD operations on Services via Service Controller. Changes persisted to the Service entity.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FD126B-060E-A691-B7D4-15024C32AEA3}"/>
              </a:ext>
            </a:extLst>
          </p:cNvPr>
          <p:cNvSpPr txBox="1"/>
          <p:nvPr/>
        </p:nvSpPr>
        <p:spPr>
          <a:xfrm>
            <a:off x="304800" y="1180161"/>
            <a:ext cx="5497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A3A5C"/>
                </a:solidFill>
              </a:rPr>
              <a:t>Use Case 6 – Manage Service</a:t>
            </a:r>
            <a:endParaRPr lang="en-US" sz="1800" b="1" i="0" dirty="0">
              <a:solidFill>
                <a:srgbClr val="1A3A5C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0263" y="214052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Analysis — </a:t>
            </a:r>
            <a:r>
              <a:rPr lang="en-US" sz="2800" b="1" i="0" dirty="0">
                <a:solidFill>
                  <a:srgbClr val="FFFFFF"/>
                </a:solidFill>
              </a:rPr>
              <a:t>Robustness</a:t>
            </a:r>
            <a:r>
              <a:rPr sz="2800" b="1" i="0" dirty="0">
                <a:solidFill>
                  <a:srgbClr val="FFFFFF"/>
                </a:solidFill>
              </a:rPr>
              <a:t>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pic>
        <p:nvPicPr>
          <p:cNvPr id="8" name="Picture 7" descr="ManageStaffAc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" y="2472727"/>
            <a:ext cx="11704320" cy="19125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3333"/>
                </a:solidFill>
              </a:rPr>
              <a:t>Admin performs CRUD operations on Staff accounts via Staff Controller. Changes persisted to the Staff entity.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B20338-2B16-6247-6A62-1D332FEAEDE6}"/>
              </a:ext>
            </a:extLst>
          </p:cNvPr>
          <p:cNvSpPr txBox="1"/>
          <p:nvPr/>
        </p:nvSpPr>
        <p:spPr>
          <a:xfrm>
            <a:off x="304800" y="1180161"/>
            <a:ext cx="5497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A3A5C"/>
                </a:solidFill>
              </a:rPr>
              <a:t>Use Case 7 – Manage Staff Account</a:t>
            </a:r>
            <a:endParaRPr lang="en-US" sz="1800" b="1" i="0" dirty="0">
              <a:solidFill>
                <a:srgbClr val="1A3A5C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0263" y="201168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Analysis — </a:t>
            </a:r>
            <a:r>
              <a:rPr lang="en-US" sz="2800" b="1" i="0" dirty="0">
                <a:solidFill>
                  <a:srgbClr val="FFFFFF"/>
                </a:solidFill>
              </a:rPr>
              <a:t>Robustness</a:t>
            </a:r>
            <a:r>
              <a:rPr sz="2800" b="1" i="0" dirty="0">
                <a:solidFill>
                  <a:srgbClr val="FFFFFF"/>
                </a:solidFill>
              </a:rPr>
              <a:t>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pic>
        <p:nvPicPr>
          <p:cNvPr id="8" name="Picture 7" descr="HandleInvalidCredenti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" y="2886139"/>
            <a:ext cx="11704320" cy="108572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3333"/>
                </a:solidFill>
              </a:rPr>
              <a:t>When credentials fail validation, the controller returns an error message rendered on the Login Page.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A0EDCD-3AFF-8D3A-BA18-BB4C1F86C0CC}"/>
              </a:ext>
            </a:extLst>
          </p:cNvPr>
          <p:cNvSpPr txBox="1"/>
          <p:nvPr/>
        </p:nvSpPr>
        <p:spPr>
          <a:xfrm>
            <a:off x="304800" y="1180161"/>
            <a:ext cx="5497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A3A5C"/>
                </a:solidFill>
              </a:rPr>
              <a:t>Use Case 8 – Handle Invalid Credentials</a:t>
            </a:r>
            <a:endParaRPr lang="en-US" sz="1800" b="1" i="0" dirty="0">
              <a:solidFill>
                <a:srgbClr val="1A3A5C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187667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Analysis — Collaboration Diagram: </a:t>
            </a:r>
            <a:r>
              <a:rPr lang="en-US" sz="2800" b="1" dirty="0">
                <a:solidFill>
                  <a:srgbClr val="FFFFFF"/>
                </a:solidFill>
              </a:rPr>
              <a:t>Full Project</a:t>
            </a:r>
            <a:endParaRPr sz="2800" b="1" i="0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7819" y="6526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chemeClr val="bg1"/>
                </a:solidFill>
              </a:rPr>
              <a:t>Communication Diagram showing object interactions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63640"/>
            <a:ext cx="112772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0" i="1" dirty="0">
                <a:solidFill>
                  <a:srgbClr val="333333"/>
                </a:solidFill>
              </a:rPr>
              <a:t>Full Collaboration Diagram for the project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D547F4-AC2F-6E28-E6E5-7C3FB8A24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156" y="994243"/>
            <a:ext cx="10175767" cy="520784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182879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Design — </a:t>
            </a:r>
            <a:r>
              <a:rPr lang="en-US" sz="2800" b="1" i="0" dirty="0">
                <a:solidFill>
                  <a:srgbClr val="FFFFFF"/>
                </a:solidFill>
              </a:rPr>
              <a:t>Class Diagram</a:t>
            </a:r>
            <a:endParaRPr sz="2800" b="1" i="0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6032" y="66751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chemeClr val="bg1"/>
                </a:solidFill>
              </a:rPr>
              <a:t>High-level system component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3333"/>
                </a:solidFill>
              </a:rPr>
              <a:t>UI → User Management, Appointment Management, Queue Management, Staff Service Module, Admin Management Module → Database.</a:t>
            </a:r>
          </a:p>
        </p:txBody>
      </p:sp>
      <p:pic>
        <p:nvPicPr>
          <p:cNvPr id="11" name="Picture 10" descr="A diagram of a computer&#10;&#10;Description automatically generated">
            <a:extLst>
              <a:ext uri="{FF2B5EF4-FFF2-40B4-BE49-F238E27FC236}">
                <a16:creationId xmlns:a16="http://schemas.microsoft.com/office/drawing/2014/main" id="{34B76554-1F10-A93A-8D18-BB180E42D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431" y="1213541"/>
            <a:ext cx="8445017" cy="481436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DCA02-D27B-A3B7-8C09-214B41BE5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4E5988-E6A0-6485-7150-2340E507F38D}"/>
              </a:ext>
            </a:extLst>
          </p:cNvPr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FCE10C-63B1-401D-C622-A3D6DCD3CBF5}"/>
              </a:ext>
            </a:extLst>
          </p:cNvPr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580D68-C025-9091-79E6-BFBFEF94905E}"/>
              </a:ext>
            </a:extLst>
          </p:cNvPr>
          <p:cNvSpPr txBox="1"/>
          <p:nvPr/>
        </p:nvSpPr>
        <p:spPr>
          <a:xfrm>
            <a:off x="304800" y="131741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</a:rPr>
              <a:t>Design</a:t>
            </a:r>
            <a:r>
              <a:rPr sz="2800" b="1" i="0" dirty="0">
                <a:solidFill>
                  <a:srgbClr val="FFFFFF"/>
                </a:solidFill>
              </a:rPr>
              <a:t> —</a:t>
            </a:r>
            <a:r>
              <a:rPr lang="en-US" sz="2800" b="1" i="0" dirty="0">
                <a:solidFill>
                  <a:srgbClr val="FFFFFF"/>
                </a:solidFill>
              </a:rPr>
              <a:t> Sequence Diagram</a:t>
            </a:r>
            <a:endParaRPr sz="2800" b="1" i="0" dirty="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592F74-6220-CCE3-3EEE-58DF52ECE617}"/>
              </a:ext>
            </a:extLst>
          </p:cNvPr>
          <p:cNvSpPr txBox="1"/>
          <p:nvPr/>
        </p:nvSpPr>
        <p:spPr>
          <a:xfrm>
            <a:off x="304800" y="632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chemeClr val="bg1"/>
                </a:solidFill>
              </a:rPr>
              <a:t>Sequence Diagram (Actor → Boundary → Control → Entity)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FC16B8-DEC4-55A5-B6AE-7452A4730F1D}"/>
              </a:ext>
            </a:extLst>
          </p:cNvPr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C61A3F-D026-CC00-CC8D-1A17BA3470E7}"/>
              </a:ext>
            </a:extLst>
          </p:cNvPr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DBB187-D9C4-5DCB-C102-739DC42B67B3}"/>
              </a:ext>
            </a:extLst>
          </p:cNvPr>
          <p:cNvSpPr txBox="1"/>
          <p:nvPr/>
        </p:nvSpPr>
        <p:spPr>
          <a:xfrm>
            <a:off x="467591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3333"/>
                </a:solidFill>
              </a:rPr>
              <a:t>Actor → Login Page → Authentication Controller → User Entity. Credentials validated; success or error returned.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3A1A88-664F-531F-4EBE-E45CA9CBCD6D}"/>
              </a:ext>
            </a:extLst>
          </p:cNvPr>
          <p:cNvSpPr txBox="1"/>
          <p:nvPr/>
        </p:nvSpPr>
        <p:spPr>
          <a:xfrm>
            <a:off x="304800" y="1180161"/>
            <a:ext cx="5497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A3A5C"/>
                </a:solidFill>
              </a:rPr>
              <a:t>Use Case 1 – Register/Login</a:t>
            </a:r>
            <a:endParaRPr lang="en-US" sz="1800" b="1" i="0" dirty="0">
              <a:solidFill>
                <a:srgbClr val="1A3A5C"/>
              </a:solidFill>
            </a:endParaRPr>
          </a:p>
          <a:p>
            <a:endParaRPr lang="en-US" dirty="0"/>
          </a:p>
        </p:txBody>
      </p:sp>
      <p:pic>
        <p:nvPicPr>
          <p:cNvPr id="12" name="Picture 11" descr="A diagram of a login page&#10;&#10;Description automatically generated">
            <a:extLst>
              <a:ext uri="{FF2B5EF4-FFF2-40B4-BE49-F238E27FC236}">
                <a16:creationId xmlns:a16="http://schemas.microsoft.com/office/drawing/2014/main" id="{736B654A-A64E-049F-FCFA-23EB62891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960841"/>
            <a:ext cx="10942320" cy="3256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4569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9279E-AE42-3275-CAB5-3D42786DC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FC7DA2-56DE-21C7-653D-0B99F89FDE64}"/>
              </a:ext>
            </a:extLst>
          </p:cNvPr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022B71-F431-9D2F-FB64-40F4C334D2AC}"/>
              </a:ext>
            </a:extLst>
          </p:cNvPr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2964C4-1266-2719-28C0-04D32733CFF9}"/>
              </a:ext>
            </a:extLst>
          </p:cNvPr>
          <p:cNvSpPr txBox="1"/>
          <p:nvPr/>
        </p:nvSpPr>
        <p:spPr>
          <a:xfrm>
            <a:off x="280263" y="204385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</a:rPr>
              <a:t>Design — Sequence Diagram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6BA4FB-6E35-23C2-8540-4A2A0ECDB987}"/>
              </a:ext>
            </a:extLst>
          </p:cNvPr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11BE7E-137D-FE02-842C-8B6EF760AC7E}"/>
              </a:ext>
            </a:extLst>
          </p:cNvPr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DD1FA3-BA90-359F-3E38-1BE9A65C69DB}"/>
              </a:ext>
            </a:extLst>
          </p:cNvPr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3333"/>
                </a:solidFill>
              </a:rPr>
              <a:t>Customer selects Service, Date, and Time Slot. Controller checks availability; creates Appointment entity on success.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61CA43-035A-EC10-AA8E-8598D99282F4}"/>
              </a:ext>
            </a:extLst>
          </p:cNvPr>
          <p:cNvSpPr txBox="1"/>
          <p:nvPr/>
        </p:nvSpPr>
        <p:spPr>
          <a:xfrm>
            <a:off x="304800" y="1180161"/>
            <a:ext cx="5497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A3A5C"/>
                </a:solidFill>
              </a:rPr>
              <a:t>Use Case 2 – Book Appointment</a:t>
            </a:r>
            <a:endParaRPr lang="en-US" sz="1800" b="1" i="0" dirty="0">
              <a:solidFill>
                <a:srgbClr val="1A3A5C"/>
              </a:solidFill>
            </a:endParaRP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F07184-64CA-B148-F3FC-EC2F31FEE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872212"/>
            <a:ext cx="11491914" cy="239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3285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DE992-2C72-A0EB-CE31-52A6100A0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3722D6-9343-52DC-9BDE-9B33BB047981}"/>
              </a:ext>
            </a:extLst>
          </p:cNvPr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0DB320-8D14-B43B-FF35-D80AAA2739D6}"/>
              </a:ext>
            </a:extLst>
          </p:cNvPr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11197D-1F1D-8EAE-F7DD-9337EEF1739B}"/>
              </a:ext>
            </a:extLst>
          </p:cNvPr>
          <p:cNvSpPr txBox="1"/>
          <p:nvPr/>
        </p:nvSpPr>
        <p:spPr>
          <a:xfrm>
            <a:off x="243687" y="201167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</a:rPr>
              <a:t>Design — Sequence Diagram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836FED-3E25-D2D6-525F-000BAEA06DD4}"/>
              </a:ext>
            </a:extLst>
          </p:cNvPr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6B784B-D366-DD49-370F-22FEB520DF66}"/>
              </a:ext>
            </a:extLst>
          </p:cNvPr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C29871-3F25-86ED-AE5D-529F7049D357}"/>
              </a:ext>
            </a:extLst>
          </p:cNvPr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3333"/>
                </a:solidFill>
              </a:rPr>
              <a:t>Customer selects an existing appointment. Controller updates Appointment status to CANCELLED.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B167E3-BE97-6F63-9B36-A6DC34ED0749}"/>
              </a:ext>
            </a:extLst>
          </p:cNvPr>
          <p:cNvSpPr txBox="1"/>
          <p:nvPr/>
        </p:nvSpPr>
        <p:spPr>
          <a:xfrm>
            <a:off x="304800" y="1180161"/>
            <a:ext cx="5497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A3A5C"/>
                </a:solidFill>
              </a:rPr>
              <a:t>Use Case 3 – Cancel Appointment</a:t>
            </a:r>
            <a:endParaRPr lang="en-US" sz="1800" b="1" i="0" dirty="0">
              <a:solidFill>
                <a:srgbClr val="1A3A5C"/>
              </a:solidFill>
            </a:endParaRPr>
          </a:p>
          <a:p>
            <a:endParaRPr lang="en-US" dirty="0"/>
          </a:p>
        </p:txBody>
      </p:sp>
      <p:pic>
        <p:nvPicPr>
          <p:cNvPr id="11" name="Picture 10" descr="A close-up of a form&#10;&#10;Description automatically generated">
            <a:extLst>
              <a:ext uri="{FF2B5EF4-FFF2-40B4-BE49-F238E27FC236}">
                <a16:creationId xmlns:a16="http://schemas.microsoft.com/office/drawing/2014/main" id="{E7718F19-2066-45E6-4A2F-F347426C6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" y="1872212"/>
            <a:ext cx="11277295" cy="2564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8133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3EF81-EE51-8EDD-1DB4-E56EB278B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608F13-97EE-D48F-B3D0-2F636CB366DA}"/>
              </a:ext>
            </a:extLst>
          </p:cNvPr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91C465-CAB8-5B71-011F-DAA2CD11128E}"/>
              </a:ext>
            </a:extLst>
          </p:cNvPr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692E66-46E2-BF41-11AD-B8F24B52EFA7}"/>
              </a:ext>
            </a:extLst>
          </p:cNvPr>
          <p:cNvSpPr txBox="1"/>
          <p:nvPr/>
        </p:nvSpPr>
        <p:spPr>
          <a:xfrm>
            <a:off x="280263" y="201167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</a:rPr>
              <a:t>Design — Sequence Diagram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FD8A61-2A4D-41BF-C0D7-D3AF8FF4F990}"/>
              </a:ext>
            </a:extLst>
          </p:cNvPr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18F155-3A31-C8F6-F770-F8C38C8C353F}"/>
              </a:ext>
            </a:extLst>
          </p:cNvPr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84D716-C641-883C-C2A4-64B315D66100}"/>
              </a:ext>
            </a:extLst>
          </p:cNvPr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3333"/>
                </a:solidFill>
              </a:rPr>
              <a:t>Customer requests to join a service queue. Controller adds QueueEntry and returns the assigned queue position.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DB10C0-3E1E-830B-7FB3-EADE3F659A7A}"/>
              </a:ext>
            </a:extLst>
          </p:cNvPr>
          <p:cNvSpPr txBox="1"/>
          <p:nvPr/>
        </p:nvSpPr>
        <p:spPr>
          <a:xfrm>
            <a:off x="304800" y="1180161"/>
            <a:ext cx="5497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A3A5C"/>
                </a:solidFill>
              </a:rPr>
              <a:t>Use Case 4 – Join Virtual Queue</a:t>
            </a:r>
            <a:endParaRPr lang="en-US" sz="1800" b="1" i="0" dirty="0">
              <a:solidFill>
                <a:srgbClr val="1A3A5C"/>
              </a:solidFill>
            </a:endParaRPr>
          </a:p>
          <a:p>
            <a:endParaRPr lang="en-US" dirty="0"/>
          </a:p>
        </p:txBody>
      </p:sp>
      <p:pic>
        <p:nvPicPr>
          <p:cNvPr id="11" name="Picture 10" descr="A diagram of a server&#10;&#10;Description automatically generated">
            <a:extLst>
              <a:ext uri="{FF2B5EF4-FFF2-40B4-BE49-F238E27FC236}">
                <a16:creationId xmlns:a16="http://schemas.microsoft.com/office/drawing/2014/main" id="{583394A2-5C1B-5148-1DE8-3FF73300A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63" y="2092253"/>
            <a:ext cx="11277294" cy="369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3918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76E69-0D16-8732-4332-9C6A48D5D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883DA8-C4E4-65F9-FB49-4BFC940C911E}"/>
              </a:ext>
            </a:extLst>
          </p:cNvPr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34A36C-71C6-25F5-C3AB-9CFDC328034A}"/>
              </a:ext>
            </a:extLst>
          </p:cNvPr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E56FEF-5633-25BE-9ED5-D9A6E29090CB}"/>
              </a:ext>
            </a:extLst>
          </p:cNvPr>
          <p:cNvSpPr txBox="1"/>
          <p:nvPr/>
        </p:nvSpPr>
        <p:spPr>
          <a:xfrm>
            <a:off x="280263" y="201167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</a:rPr>
              <a:t>Design — Sequence Diagram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7617EA-FFDF-6037-D98A-A3C13B981F4F}"/>
              </a:ext>
            </a:extLst>
          </p:cNvPr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A5881E-CEE0-4B70-8FCB-E75D90A6FA6C}"/>
              </a:ext>
            </a:extLst>
          </p:cNvPr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4A8778-2537-F618-3014-70D4A89E3AA3}"/>
              </a:ext>
            </a:extLst>
          </p:cNvPr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3333"/>
                </a:solidFill>
              </a:rPr>
              <a:t>Staff calls next customer from the Queue Management page. Controller retrieves next appointment/queue entry and updates statuses.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B4A5D5-4D8C-72D0-FAEF-224826767C20}"/>
              </a:ext>
            </a:extLst>
          </p:cNvPr>
          <p:cNvSpPr txBox="1"/>
          <p:nvPr/>
        </p:nvSpPr>
        <p:spPr>
          <a:xfrm>
            <a:off x="304800" y="1180161"/>
            <a:ext cx="5497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A3A5C"/>
                </a:solidFill>
              </a:rPr>
              <a:t>Use Case 5 – Call Customer and Complete Service</a:t>
            </a:r>
            <a:endParaRPr lang="en-US" sz="1800" b="1" i="0" dirty="0">
              <a:solidFill>
                <a:srgbClr val="1A3A5C"/>
              </a:solidFill>
            </a:endParaRPr>
          </a:p>
          <a:p>
            <a:endParaRPr lang="en-US" dirty="0"/>
          </a:p>
        </p:txBody>
      </p:sp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D2F86265-E674-526D-F95C-94FB9A00C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62" y="1988058"/>
            <a:ext cx="11113161" cy="3567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3592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60956-C689-D2D8-CC7B-B8FDD5914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776712-C0F3-26CA-1860-FD61B74FD0C4}"/>
              </a:ext>
            </a:extLst>
          </p:cNvPr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332077-6DE0-E7FC-A883-E05A625A88B5}"/>
              </a:ext>
            </a:extLst>
          </p:cNvPr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9A5AA0-71CF-071E-CAE3-691FEC083B54}"/>
              </a:ext>
            </a:extLst>
          </p:cNvPr>
          <p:cNvSpPr txBox="1"/>
          <p:nvPr/>
        </p:nvSpPr>
        <p:spPr>
          <a:xfrm>
            <a:off x="280263" y="228600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</a:rPr>
              <a:t>Design — Sequence Diagram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41F5BD-B082-678E-9E20-A018CAFC1FE3}"/>
              </a:ext>
            </a:extLst>
          </p:cNvPr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B6D67-695E-3567-B7BB-BBF42A168031}"/>
              </a:ext>
            </a:extLst>
          </p:cNvPr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C87E5D-3B38-D3A4-6F94-490A67A53CDA}"/>
              </a:ext>
            </a:extLst>
          </p:cNvPr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3333"/>
                </a:solidFill>
              </a:rPr>
              <a:t>Admin performs CRUD operations on Services via Service Controller. Changes persisted to the Service entity.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7CD235-5F4F-22FE-6D46-9E9C456D9FFC}"/>
              </a:ext>
            </a:extLst>
          </p:cNvPr>
          <p:cNvSpPr txBox="1"/>
          <p:nvPr/>
        </p:nvSpPr>
        <p:spPr>
          <a:xfrm>
            <a:off x="304800" y="1180161"/>
            <a:ext cx="5497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A3A5C"/>
                </a:solidFill>
              </a:rPr>
              <a:t>Use Case 6 – Manage Service</a:t>
            </a:r>
            <a:endParaRPr lang="en-US" sz="1800" b="1" i="0" dirty="0">
              <a:solidFill>
                <a:srgbClr val="1A3A5C"/>
              </a:solidFill>
            </a:endParaRP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9D9A08-2F9A-53F5-FA45-85652C4EC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63" y="1872212"/>
            <a:ext cx="11009376" cy="354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4147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04C74-8B18-0AD5-C32A-9BF66DE0B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367D71-A780-A6F7-D288-62483428200D}"/>
              </a:ext>
            </a:extLst>
          </p:cNvPr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CBAD9B-E700-E170-DFA6-24D009BCA8C1}"/>
              </a:ext>
            </a:extLst>
          </p:cNvPr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A3C6FB-6BF7-C865-0CC5-48E785F3F685}"/>
              </a:ext>
            </a:extLst>
          </p:cNvPr>
          <p:cNvSpPr txBox="1"/>
          <p:nvPr/>
        </p:nvSpPr>
        <p:spPr>
          <a:xfrm>
            <a:off x="280263" y="214052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</a:rPr>
              <a:t>Design — Sequence Diagram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C04571-4B6F-1F92-0E0F-3F678B6C8ADD}"/>
              </a:ext>
            </a:extLst>
          </p:cNvPr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B6681-BE97-DF99-9CD6-D04AE65F14D9}"/>
              </a:ext>
            </a:extLst>
          </p:cNvPr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A2BF45-E22D-F729-2D25-EAABB0979A05}"/>
              </a:ext>
            </a:extLst>
          </p:cNvPr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3333"/>
                </a:solidFill>
              </a:rPr>
              <a:t>Admin performs CRUD operations on Staff accounts via Staff Controller. Changes persisted to the Staff entity.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2CC694-866D-9A04-9AD6-6E6BC882337D}"/>
              </a:ext>
            </a:extLst>
          </p:cNvPr>
          <p:cNvSpPr txBox="1"/>
          <p:nvPr/>
        </p:nvSpPr>
        <p:spPr>
          <a:xfrm>
            <a:off x="304800" y="1180161"/>
            <a:ext cx="5497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A3A5C"/>
                </a:solidFill>
              </a:rPr>
              <a:t>Use Case 7 – Manage Staff Account</a:t>
            </a:r>
            <a:endParaRPr lang="en-US" sz="1800" b="1" i="0" dirty="0">
              <a:solidFill>
                <a:srgbClr val="1A3A5C"/>
              </a:solidFill>
            </a:endParaRPr>
          </a:p>
          <a:p>
            <a:endParaRPr lang="en-US" dirty="0"/>
          </a:p>
        </p:txBody>
      </p:sp>
      <p:pic>
        <p:nvPicPr>
          <p:cNvPr id="11" name="Picture 10" descr="A diagram of a staff&#10;&#10;Description automatically generated with medium confidence">
            <a:extLst>
              <a:ext uri="{FF2B5EF4-FFF2-40B4-BE49-F238E27FC236}">
                <a16:creationId xmlns:a16="http://schemas.microsoft.com/office/drawing/2014/main" id="{3BBA7CC2-035F-C88E-F034-32EB4D266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877059"/>
            <a:ext cx="10357104" cy="381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9093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56A47-C34C-A712-264C-7A85E94B7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925400-2306-6670-299E-D682CC6FA124}"/>
              </a:ext>
            </a:extLst>
          </p:cNvPr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82F250-B38E-760B-A05C-555E8AF4EF3C}"/>
              </a:ext>
            </a:extLst>
          </p:cNvPr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996050-6FE5-01FB-DCDC-5318916579DB}"/>
              </a:ext>
            </a:extLst>
          </p:cNvPr>
          <p:cNvSpPr txBox="1"/>
          <p:nvPr/>
        </p:nvSpPr>
        <p:spPr>
          <a:xfrm>
            <a:off x="280263" y="201168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</a:rPr>
              <a:t>Design — Sequence Diagram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89D9CA-E700-4054-C580-A373077A0D6E}"/>
              </a:ext>
            </a:extLst>
          </p:cNvPr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1BAFB1-CA68-EC9E-F98D-9B83FD7CD2EC}"/>
              </a:ext>
            </a:extLst>
          </p:cNvPr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706FE0-3662-1739-C666-534BD7F9A6F7}"/>
              </a:ext>
            </a:extLst>
          </p:cNvPr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3333"/>
                </a:solidFill>
              </a:rPr>
              <a:t>When credentials fail validation, the controller returns an error message rendered on the Login Page.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45E492-649C-93ED-8BA7-A6D83BF69792}"/>
              </a:ext>
            </a:extLst>
          </p:cNvPr>
          <p:cNvSpPr txBox="1"/>
          <p:nvPr/>
        </p:nvSpPr>
        <p:spPr>
          <a:xfrm>
            <a:off x="304800" y="1180161"/>
            <a:ext cx="5497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A3A5C"/>
                </a:solidFill>
              </a:rPr>
              <a:t>Use Case 8 – Handle Invalid Credentials</a:t>
            </a:r>
            <a:endParaRPr lang="en-US" sz="1800" b="1" i="0" dirty="0">
              <a:solidFill>
                <a:srgbClr val="1A3A5C"/>
              </a:solidFill>
            </a:endParaRPr>
          </a:p>
          <a:p>
            <a:endParaRPr lang="en-US" dirty="0"/>
          </a:p>
        </p:txBody>
      </p:sp>
      <p:pic>
        <p:nvPicPr>
          <p:cNvPr id="11" name="Picture 10" descr="A diagram of a website&#10;&#10;Description automatically generated">
            <a:extLst>
              <a:ext uri="{FF2B5EF4-FFF2-40B4-BE49-F238E27FC236}">
                <a16:creationId xmlns:a16="http://schemas.microsoft.com/office/drawing/2014/main" id="{B648B1DA-41BC-8C81-4BD5-5D30860FF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72212"/>
            <a:ext cx="11474002" cy="309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8893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59604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</a:rPr>
              <a:t>User Interface Design</a:t>
            </a:r>
            <a:endParaRPr sz="2800" b="1" i="0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C491CCA-979E-2BF4-889E-FB265BA85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08" y="1245212"/>
            <a:ext cx="6876378" cy="3460138"/>
          </a:xfrm>
          <a:prstGeom prst="rect">
            <a:avLst/>
          </a:prstGeom>
        </p:spPr>
      </p:pic>
      <p:pic>
        <p:nvPicPr>
          <p:cNvPr id="20" name="Picture 19" descr="A screenshot of a computer&#10;&#10;Description automatically generated">
            <a:extLst>
              <a:ext uri="{FF2B5EF4-FFF2-40B4-BE49-F238E27FC236}">
                <a16:creationId xmlns:a16="http://schemas.microsoft.com/office/drawing/2014/main" id="{056FD315-5699-CFD0-B3B4-4425F5DA2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0051" y="3709485"/>
            <a:ext cx="6977133" cy="238765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06BE35E-8CF4-F3EA-09BB-312E163E6753}"/>
              </a:ext>
            </a:extLst>
          </p:cNvPr>
          <p:cNvSpPr txBox="1"/>
          <p:nvPr/>
        </p:nvSpPr>
        <p:spPr>
          <a:xfrm>
            <a:off x="7886485" y="2557184"/>
            <a:ext cx="28807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1A3A5C"/>
                </a:solidFill>
              </a:rPr>
              <a:t>User’s/Customer’s landing page</a:t>
            </a:r>
            <a:endParaRPr 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2B0ED8-6F64-14F8-FB9B-305EC2B7F2A1}"/>
              </a:ext>
            </a:extLst>
          </p:cNvPr>
          <p:cNvSpPr txBox="1"/>
          <p:nvPr/>
        </p:nvSpPr>
        <p:spPr>
          <a:xfrm>
            <a:off x="1066799" y="4795370"/>
            <a:ext cx="27991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1A3A5C"/>
                </a:solidFill>
              </a:rPr>
              <a:t>List of all the available services</a:t>
            </a:r>
            <a:endParaRPr lang="en-US" sz="16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D6020AC-3A2E-C900-EB00-8002AC941EA3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3865963" y="4964647"/>
            <a:ext cx="10298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25049EE-F154-309C-7773-F494782C1074}"/>
              </a:ext>
            </a:extLst>
          </p:cNvPr>
          <p:cNvCxnSpPr>
            <a:stCxn id="25" idx="1"/>
          </p:cNvCxnSpPr>
          <p:nvPr/>
        </p:nvCxnSpPr>
        <p:spPr>
          <a:xfrm flipH="1">
            <a:off x="6217920" y="2726461"/>
            <a:ext cx="1668565" cy="78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F7C89A-120D-898C-6B16-CEEF77D59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AF7676-9B17-0F3F-275F-8E1C10A7D010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7F7800-76C3-23E2-B996-343EA851073E}"/>
              </a:ext>
            </a:extLst>
          </p:cNvPr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6113D-622B-54C9-D931-90BA8AC555B0}"/>
              </a:ext>
            </a:extLst>
          </p:cNvPr>
          <p:cNvSpPr txBox="1"/>
          <p:nvPr/>
        </p:nvSpPr>
        <p:spPr>
          <a:xfrm>
            <a:off x="365760" y="259604"/>
            <a:ext cx="1170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</a:rPr>
              <a:t>User Interface Design</a:t>
            </a:r>
            <a:endParaRPr sz="2800" b="1" i="0" dirty="0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3A6904-9F08-F5B2-ED00-5DF1D4D7BDA3}"/>
              </a:ext>
            </a:extLst>
          </p:cNvPr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F080F5-5C1F-6A60-F608-9B3490AC2727}"/>
              </a:ext>
            </a:extLst>
          </p:cNvPr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0D93D0-2102-9218-ABC4-70F11DC89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" y="1081669"/>
            <a:ext cx="6607105" cy="3318882"/>
          </a:xfrm>
          <a:prstGeom prst="rect">
            <a:avLst/>
          </a:prstGeom>
        </p:spPr>
      </p:pic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05A5290C-F1CD-E92C-FBF3-052E62CBA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730" y="4474687"/>
            <a:ext cx="7772400" cy="20150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A407270-BA85-A083-AC1A-6BF27DB0A9BA}"/>
              </a:ext>
            </a:extLst>
          </p:cNvPr>
          <p:cNvSpPr txBox="1"/>
          <p:nvPr/>
        </p:nvSpPr>
        <p:spPr>
          <a:xfrm>
            <a:off x="7105650" y="2579638"/>
            <a:ext cx="33789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1A3A5C"/>
                </a:solidFill>
              </a:rPr>
              <a:t>Join Virtual Queue Interface for Users</a:t>
            </a:r>
            <a:endParaRPr lang="en-US" sz="16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413CD82-C3D8-7B1E-BF0B-140790DC8221}"/>
              </a:ext>
            </a:extLst>
          </p:cNvPr>
          <p:cNvCxnSpPr/>
          <p:nvPr/>
        </p:nvCxnSpPr>
        <p:spPr>
          <a:xfrm flipH="1">
            <a:off x="5857875" y="2741110"/>
            <a:ext cx="12477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4B846AF-AA77-EB67-570B-47EAA8BF0834}"/>
              </a:ext>
            </a:extLst>
          </p:cNvPr>
          <p:cNvSpPr txBox="1"/>
          <p:nvPr/>
        </p:nvSpPr>
        <p:spPr>
          <a:xfrm>
            <a:off x="182880" y="5482220"/>
            <a:ext cx="24943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1A3A5C"/>
                </a:solidFill>
              </a:rPr>
              <a:t>Manage Services for admin</a:t>
            </a:r>
            <a:endParaRPr lang="en-US" sz="16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075DAFB-0542-F2BF-6813-9D52D7FF96E7}"/>
              </a:ext>
            </a:extLst>
          </p:cNvPr>
          <p:cNvCxnSpPr>
            <a:stCxn id="14" idx="3"/>
          </p:cNvCxnSpPr>
          <p:nvPr/>
        </p:nvCxnSpPr>
        <p:spPr>
          <a:xfrm flipV="1">
            <a:off x="2677217" y="5648325"/>
            <a:ext cx="1412513" cy="31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6473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E3CE13-D9D7-CCDF-396C-76E179F34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F17E38-745F-40F3-B67A-44DCC9975F30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246B27-3266-03BF-1590-170B60315AE8}"/>
              </a:ext>
            </a:extLst>
          </p:cNvPr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50F4D6-A4C9-100A-455A-B2F4A163978B}"/>
              </a:ext>
            </a:extLst>
          </p:cNvPr>
          <p:cNvSpPr txBox="1"/>
          <p:nvPr/>
        </p:nvSpPr>
        <p:spPr>
          <a:xfrm>
            <a:off x="365760" y="259604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Architecture Summary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B3928B-9E61-5950-3705-90ADCCA364BE}"/>
              </a:ext>
            </a:extLst>
          </p:cNvPr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DAF63D-5DF4-5453-03F2-3A156E40BB5B}"/>
              </a:ext>
            </a:extLst>
          </p:cNvPr>
          <p:cNvSpPr txBox="1"/>
          <p:nvPr/>
        </p:nvSpPr>
        <p:spPr>
          <a:xfrm>
            <a:off x="18288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SmartQueue QMS  |  CSCI 6234 Spring 2026  |  Group 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B4F434-A69E-7464-5A32-0D1FBB4BEEF0}"/>
              </a:ext>
            </a:extLst>
          </p:cNvPr>
          <p:cNvSpPr txBox="1"/>
          <p:nvPr/>
        </p:nvSpPr>
        <p:spPr>
          <a:xfrm>
            <a:off x="365760" y="1280160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800" b="1" i="0" dirty="0">
                <a:solidFill>
                  <a:srgbClr val="1A3A5C"/>
                </a:solidFill>
              </a:rPr>
              <a:t>Layered Architecture: UI → Controllers → Services → Database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AA42EF-2CE5-9598-FF60-AA3C9B5ADA1B}"/>
              </a:ext>
            </a:extLst>
          </p:cNvPr>
          <p:cNvSpPr txBox="1"/>
          <p:nvPr/>
        </p:nvSpPr>
        <p:spPr>
          <a:xfrm>
            <a:off x="365760" y="1664208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800" b="1" i="0" dirty="0">
                <a:solidFill>
                  <a:srgbClr val="1A3A5C"/>
                </a:solidFill>
              </a:rPr>
              <a:t>OO Patterns Applied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E7E34C-1844-1458-C319-5DE7691AB07C}"/>
              </a:ext>
            </a:extLst>
          </p:cNvPr>
          <p:cNvSpPr txBox="1"/>
          <p:nvPr/>
        </p:nvSpPr>
        <p:spPr>
          <a:xfrm>
            <a:off x="640080" y="2048256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500" b="0" i="0" dirty="0">
                <a:solidFill>
                  <a:srgbClr val="1E4D78"/>
                </a:solidFill>
              </a:rPr>
              <a:t>Inheritance: User → Customer / Staff / Admin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FE8864-00B2-54EB-3C0F-16069231BA28}"/>
              </a:ext>
            </a:extLst>
          </p:cNvPr>
          <p:cNvSpPr txBox="1"/>
          <p:nvPr/>
        </p:nvSpPr>
        <p:spPr>
          <a:xfrm>
            <a:off x="640080" y="2395728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500" b="0" i="0" dirty="0">
                <a:solidFill>
                  <a:srgbClr val="1E4D78"/>
                </a:solidFill>
              </a:rPr>
              <a:t>Composition: Queue ◆── </a:t>
            </a:r>
            <a:r>
              <a:rPr sz="1500" b="0" i="0" dirty="0" err="1">
                <a:solidFill>
                  <a:srgbClr val="1E4D78"/>
                </a:solidFill>
              </a:rPr>
              <a:t>QueueEntry</a:t>
            </a:r>
            <a:endParaRPr sz="1500" b="0" i="0" dirty="0">
              <a:solidFill>
                <a:srgbClr val="1E4D78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E94B17-E888-D9DC-14E4-FEE83CFF5D0F}"/>
              </a:ext>
            </a:extLst>
          </p:cNvPr>
          <p:cNvSpPr txBox="1"/>
          <p:nvPr/>
        </p:nvSpPr>
        <p:spPr>
          <a:xfrm>
            <a:off x="640080" y="2743200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500" b="0" i="0" dirty="0">
                <a:solidFill>
                  <a:srgbClr val="1E4D78"/>
                </a:solidFill>
              </a:rPr>
              <a:t>MVC-style separation: Boundary / Control / Entity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C86846-19BB-EB85-8484-F7ED4DAB2983}"/>
              </a:ext>
            </a:extLst>
          </p:cNvPr>
          <p:cNvSpPr txBox="1"/>
          <p:nvPr/>
        </p:nvSpPr>
        <p:spPr>
          <a:xfrm>
            <a:off x="365760" y="3090672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800" b="1" i="0" dirty="0">
                <a:solidFill>
                  <a:srgbClr val="1A3A5C"/>
                </a:solidFill>
              </a:rPr>
              <a:t>Design Artifacts Produced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98C535-BCE9-0927-6AB2-6C6C1D464CBA}"/>
              </a:ext>
            </a:extLst>
          </p:cNvPr>
          <p:cNvSpPr txBox="1"/>
          <p:nvPr/>
        </p:nvSpPr>
        <p:spPr>
          <a:xfrm>
            <a:off x="640080" y="3474720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500" b="0" i="0" dirty="0">
                <a:solidFill>
                  <a:srgbClr val="1E4D78"/>
                </a:solidFill>
              </a:rPr>
              <a:t>Use Case, Activity, Domain Model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A8DFBF-B603-2925-8622-B682CE242E08}"/>
              </a:ext>
            </a:extLst>
          </p:cNvPr>
          <p:cNvSpPr txBox="1"/>
          <p:nvPr/>
        </p:nvSpPr>
        <p:spPr>
          <a:xfrm>
            <a:off x="640080" y="3822192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500" b="0" i="0" dirty="0">
                <a:solidFill>
                  <a:srgbClr val="1E4D78"/>
                </a:solidFill>
              </a:rPr>
              <a:t>8 Sequence (Robustness) Diagrams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01CC7F-EC85-DAA2-274C-11ECB86F4620}"/>
              </a:ext>
            </a:extLst>
          </p:cNvPr>
          <p:cNvSpPr txBox="1"/>
          <p:nvPr/>
        </p:nvSpPr>
        <p:spPr>
          <a:xfrm>
            <a:off x="640080" y="4169664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sz="1500" b="0" i="0" dirty="0">
                <a:solidFill>
                  <a:srgbClr val="1E4D78"/>
                </a:solidFill>
              </a:rPr>
              <a:t>Collaboration, Class, Component, State Diagrams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A1D7B1-9B3D-4870-06D5-F8D2F1D8C6E9}"/>
              </a:ext>
            </a:extLst>
          </p:cNvPr>
          <p:cNvSpPr txBox="1"/>
          <p:nvPr/>
        </p:nvSpPr>
        <p:spPr>
          <a:xfrm>
            <a:off x="365760" y="4517136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800" b="1" i="0" dirty="0">
                <a:solidFill>
                  <a:srgbClr val="1A3A5C"/>
                </a:solidFill>
              </a:rPr>
              <a:t>All diagrams authored in </a:t>
            </a:r>
            <a:r>
              <a:rPr sz="1800" b="1" i="0" dirty="0" err="1">
                <a:solidFill>
                  <a:srgbClr val="1A3A5C"/>
                </a:solidFill>
              </a:rPr>
              <a:t>PlantUML</a:t>
            </a:r>
            <a:r>
              <a:rPr sz="1800" b="1" i="0" dirty="0">
                <a:solidFill>
                  <a:srgbClr val="1A3A5C"/>
                </a:solidFill>
              </a:rPr>
              <a:t> and version-controlled via Git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1B0C08-2F04-50BC-34B2-A48AA2D77312}"/>
              </a:ext>
            </a:extLst>
          </p:cNvPr>
          <p:cNvSpPr txBox="1"/>
          <p:nvPr/>
        </p:nvSpPr>
        <p:spPr>
          <a:xfrm>
            <a:off x="365760" y="5291409"/>
            <a:ext cx="105784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1A3A5C"/>
                </a:solidFill>
              </a:rPr>
              <a:t>Hosted Application - </a:t>
            </a:r>
            <a:r>
              <a:rPr lang="en-US" sz="1800" b="0" i="0" dirty="0">
                <a:solidFill>
                  <a:srgbClr val="00A8B5"/>
                </a:solidFill>
                <a:hlinkClick r:id="rId2"/>
              </a:rPr>
              <a:t>https://</a:t>
            </a:r>
            <a:r>
              <a:rPr lang="en-US" sz="1800" b="0" i="0" dirty="0" err="1">
                <a:solidFill>
                  <a:srgbClr val="00A8B5"/>
                </a:solidFill>
                <a:hlinkClick r:id="rId2"/>
              </a:rPr>
              <a:t>smartqueue-sandy.vercel.app</a:t>
            </a:r>
            <a:r>
              <a:rPr lang="en-US" sz="1800" b="0" i="0" dirty="0">
                <a:solidFill>
                  <a:srgbClr val="00A8B5"/>
                </a:solidFill>
                <a:hlinkClick r:id="rId2"/>
              </a:rPr>
              <a:t>/</a:t>
            </a:r>
            <a:endParaRPr lang="en-US" sz="1800" b="0" i="0" dirty="0">
              <a:solidFill>
                <a:srgbClr val="00A8B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9152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3954C-B711-7F63-F44C-B711087C1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1A01BB-22A0-F879-76DA-F96DC001094C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70F1B2-2E54-CFCF-A46B-31D7954EA096}"/>
              </a:ext>
            </a:extLst>
          </p:cNvPr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E454B7-9268-205D-3364-1988C734608B}"/>
              </a:ext>
            </a:extLst>
          </p:cNvPr>
          <p:cNvSpPr/>
          <p:nvPr/>
        </p:nvSpPr>
        <p:spPr>
          <a:xfrm>
            <a:off x="8686800" y="164592"/>
            <a:ext cx="3504895" cy="6528816"/>
          </a:xfrm>
          <a:prstGeom prst="rect">
            <a:avLst/>
          </a:prstGeom>
          <a:solidFill>
            <a:srgbClr val="1E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B3E3F1-A3A2-4ED6-82B7-C3CFF58EEE6E}"/>
              </a:ext>
            </a:extLst>
          </p:cNvPr>
          <p:cNvSpPr txBox="1"/>
          <p:nvPr/>
        </p:nvSpPr>
        <p:spPr>
          <a:xfrm>
            <a:off x="548640" y="16459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SmartQueue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A75E48-1276-20B3-5274-8900A02F2D61}"/>
              </a:ext>
            </a:extLst>
          </p:cNvPr>
          <p:cNvSpPr txBox="1"/>
          <p:nvPr/>
        </p:nvSpPr>
        <p:spPr>
          <a:xfrm>
            <a:off x="548640" y="3200400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0" i="0" dirty="0">
                <a:solidFill>
                  <a:srgbClr val="00A8B5"/>
                </a:solidFill>
              </a:rPr>
              <a:t>Thank you!</a:t>
            </a:r>
            <a:endParaRPr sz="3000" b="0" i="0" dirty="0">
              <a:solidFill>
                <a:srgbClr val="00A8B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4606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1914</Words>
  <Application>Microsoft Macintosh PowerPoint</Application>
  <PresentationFormat>Widescreen</PresentationFormat>
  <Paragraphs>246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LNU, Yashika</cp:lastModifiedBy>
  <cp:revision>105</cp:revision>
  <dcterms:created xsi:type="dcterms:W3CDTF">2013-01-27T09:14:16Z</dcterms:created>
  <dcterms:modified xsi:type="dcterms:W3CDTF">2026-04-15T15:50:02Z</dcterms:modified>
  <cp:category/>
</cp:coreProperties>
</file>