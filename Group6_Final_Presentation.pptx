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3"/>
    <p:restoredTop sz="96259"/>
  </p:normalViewPr>
  <p:slideViewPr>
    <p:cSldViewPr snapToGrid="0" snapToObjects="1">
      <p:cViewPr varScale="1">
        <p:scale>
          <a:sx n="123" d="100"/>
          <a:sy n="123" d="100"/>
        </p:scale>
        <p:origin x="1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164592"/>
            <a:ext cx="3504895" cy="6528816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SmartQueue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A8B5"/>
                </a:solidFill>
              </a:rPr>
              <a:t>Queue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EC8E8"/>
                </a:solidFill>
              </a:rPr>
              <a:t>CSCI 6234 | Object-Oriented Analysis &amp;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8229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9EC8E8"/>
                </a:solidFill>
              </a:rPr>
              <a:t>Spring 2026  |  Group 06</a:t>
            </a:r>
            <a:endParaRPr lang="en-US" sz="1700" b="0" i="0" dirty="0">
              <a:solidFill>
                <a:srgbClr val="9EC8E8"/>
              </a:solidFill>
            </a:endParaRPr>
          </a:p>
          <a:p>
            <a:pPr algn="l"/>
            <a:endParaRPr lang="en-US" sz="1700" dirty="0">
              <a:solidFill>
                <a:srgbClr val="9EC8E8"/>
              </a:solidFill>
            </a:endParaRPr>
          </a:p>
          <a:p>
            <a:pPr algn="l"/>
            <a:r>
              <a:rPr lang="en-US" sz="1700" b="0" i="0" dirty="0">
                <a:solidFill>
                  <a:srgbClr val="9EC8E8"/>
                </a:solidFill>
              </a:rPr>
              <a:t>Yashika LNU</a:t>
            </a:r>
          </a:p>
          <a:p>
            <a:pPr algn="l"/>
            <a:r>
              <a:rPr lang="en-US" sz="1700" dirty="0">
                <a:solidFill>
                  <a:srgbClr val="9EC8E8"/>
                </a:solidFill>
              </a:rPr>
              <a:t>Avish Kaushik</a:t>
            </a:r>
            <a:endParaRPr lang="en-US" sz="1700" b="0" i="0" dirty="0">
              <a:solidFill>
                <a:srgbClr val="9EC8E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A8B5"/>
                </a:solidFill>
              </a:rPr>
              <a:t>Final Project
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8404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rgbClr val="9EC8E8"/>
                </a:solidFill>
              </a:rPr>
              <a:t>19</a:t>
            </a:r>
            <a:r>
              <a:rPr lang="en-US" sz="1400" b="0" i="0" baseline="30000" dirty="0">
                <a:solidFill>
                  <a:srgbClr val="9EC8E8"/>
                </a:solidFill>
              </a:rPr>
              <a:t>th</a:t>
            </a:r>
            <a:r>
              <a:rPr lang="en-US" sz="1400" b="0" i="0" dirty="0">
                <a:solidFill>
                  <a:srgbClr val="9EC8E8"/>
                </a:solidFill>
              </a:rPr>
              <a:t>, </a:t>
            </a:r>
            <a:r>
              <a:rPr sz="1400" b="0" i="0" dirty="0">
                <a:solidFill>
                  <a:srgbClr val="9EC8E8"/>
                </a:solidFill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86220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800" b="1" i="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Project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48256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Use Case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Activity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Analysis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2724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Domain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Sequence (Robustness) Diagrams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Collaboration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69664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Design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35424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Component Diagram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55464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State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" y="527608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82880"/>
            <a:ext cx="1170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Project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2286000"/>
          </a:xfrm>
          <a:prstGeom prst="rect">
            <a:avLst/>
          </a:prstGeom>
          <a:solidFill>
            <a:srgbClr val="E0F7FA"/>
          </a:solidFill>
          <a:ln w="63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Long physical queues cause customer frustration, staff inefficiency, and service bottlenecks.
No real-time visibility into waiting times or appointment scheduling leads to poor service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2286000"/>
          </a:xfrm>
          <a:prstGeom prst="rect">
            <a:avLst/>
          </a:prstGeom>
          <a:solidFill>
            <a:srgbClr val="E0F7FA"/>
          </a:solidFill>
          <a:ln w="63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SmartQueue is a digital Queue Management System (QMS) enabling customers to book appointments and join virtual queues remotely — eliminating physical lines and streamlining service delivery.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Key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Virtual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Join service queues without physical presence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Appointment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Schedule appointments with date/time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Real-Time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Live queue position and status notifications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Customer, Staff, and Admin portals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7187"/>
            <a:ext cx="1170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System Actors &amp;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78936" cy="4114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358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45109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Register /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0436"/>
            <a:ext cx="35874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Book Appointment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32772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Cancel Appointment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35108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3A5C"/>
                </a:solidFill>
              </a:rPr>
              <a:t>J</a:t>
            </a:r>
            <a:r>
              <a:rPr sz="1500" b="1" i="0" dirty="0">
                <a:solidFill>
                  <a:srgbClr val="1A3A5C"/>
                </a:solidFill>
              </a:rPr>
              <a:t>oin Virtual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37444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View Queue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39780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Leave 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0456" y="1234440"/>
            <a:ext cx="339852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1896" y="1261872"/>
            <a:ext cx="3307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1758802"/>
            <a:ext cx="3398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Call Next 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0456" y="2117090"/>
            <a:ext cx="3398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Complete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2064" y="1745110"/>
            <a:ext cx="36941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Manage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2064" y="2068275"/>
            <a:ext cx="36941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Manage Staff Accounts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9100" y="1226749"/>
            <a:ext cx="60960" cy="518624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2D4322-DAF9-8749-7781-F5D54D4A601D}"/>
              </a:ext>
            </a:extLst>
          </p:cNvPr>
          <p:cNvSpPr/>
          <p:nvPr/>
        </p:nvSpPr>
        <p:spPr>
          <a:xfrm>
            <a:off x="8132064" y="1240607"/>
            <a:ext cx="3694176" cy="411480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78ECEA-BCA4-BD7A-054C-AB5FD3B4C6A1}"/>
              </a:ext>
            </a:extLst>
          </p:cNvPr>
          <p:cNvSpPr/>
          <p:nvPr/>
        </p:nvSpPr>
        <p:spPr>
          <a:xfrm flipH="1">
            <a:off x="7901941" y="1226749"/>
            <a:ext cx="45719" cy="518624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E234F-F973-A8EC-A8D2-C2DF20655528}"/>
              </a:ext>
            </a:extLst>
          </p:cNvPr>
          <p:cNvSpPr txBox="1"/>
          <p:nvPr/>
        </p:nvSpPr>
        <p:spPr>
          <a:xfrm>
            <a:off x="8226552" y="1274188"/>
            <a:ext cx="3307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Admin</a:t>
            </a:r>
            <a:endParaRPr sz="14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75290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Requirements —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7" name="Picture 6" descr="UseCas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15" y="1005840"/>
            <a:ext cx="11156065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SmartQueue supports three actor types: Customer, Staff, and Admin. All use cases include the Register/Login use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Requirements — Activity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263" y="6675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bg1"/>
                </a:solidFill>
              </a:rPr>
              <a:t>SmartQueue</a:t>
            </a:r>
            <a:r>
              <a:rPr sz="1200" b="1" i="0" dirty="0">
                <a:solidFill>
                  <a:schemeClr val="bg1"/>
                </a:solidFill>
              </a:rPr>
              <a:t> Customer Service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Activity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570" y="1005840"/>
            <a:ext cx="3116555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opens app → Has appointment? → Check-in or Join Queue → Wait → Staff calls → Customer responds? → Service Complete or No-Show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729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Domain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Domain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025" y="1005840"/>
            <a:ext cx="5431645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Core entities: User (Customer / Staff / Admin), Service, Appointment, Queue, QueueEntry. Customer books Appointments; Service has a Queue; Queue contains QueueEntries.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800" y="131741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</a:t>
            </a:r>
            <a:r>
              <a:rPr lang="en-US" sz="2800" b="1" i="0" dirty="0">
                <a:solidFill>
                  <a:srgbClr val="FFFFFF"/>
                </a:solidFill>
              </a:rPr>
              <a:t> Robustness </a:t>
            </a:r>
            <a:r>
              <a:rPr sz="2800" b="1" i="0" dirty="0">
                <a:solidFill>
                  <a:srgbClr val="FFFFFF"/>
                </a:solidFill>
              </a:rPr>
              <a:t>Diagram: Register /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32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Robustness / Sequence Diagram (Actor → Boundary → Control → Entity)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RegisterOr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50250"/>
            <a:ext cx="11704320" cy="4497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591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Actor → Login Page → Authentication Controller → User Entity. Credentials validated; success or error returned.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1168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Diagram: Handle Invalid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HandleInvalidCredent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886139"/>
            <a:ext cx="11704320" cy="10857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When credentials fail validation, the controller returns an error message rendered on the Login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4385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Diagram: Book Appointment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Book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718862"/>
            <a:ext cx="11704320" cy="14202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selects Service, Date, and Time Slot. Controller checks availability; creates Appointment entity on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687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Diagram: Cancel Appointment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Cancel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3043044"/>
            <a:ext cx="11704320" cy="7719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selects an existing appointment. Controller updates Appointment status to CANCELLED.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Diagram: Join Virtual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JoinVirtual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751381"/>
            <a:ext cx="11704320" cy="13552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requests to join a service queue. Controller adds QueueEntry and returns the assigned queue position.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Diagram: Call Customer &amp; Complete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CallCustomerAndComplete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441888"/>
            <a:ext cx="11704320" cy="19742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Staff calls next customer from the Queue Management page. Controller retrieves next appointment/queue entry and updates statuses.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28600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Diagram: Manage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Manage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561027"/>
            <a:ext cx="11704320" cy="17359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Admin performs CRUD operations on Services via Service Controller. Changes persisted to the Service entity.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14052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Diagram: Manage Staff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ManageStaff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472727"/>
            <a:ext cx="11704320" cy="19125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Admin performs CRUD operations on Staff accounts via Staff Controller. Changes persisted to the Staff entity.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876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Collaboration Diagram: </a:t>
            </a:r>
            <a:r>
              <a:rPr lang="en-US" sz="2800" b="1" dirty="0">
                <a:solidFill>
                  <a:srgbClr val="FFFFFF"/>
                </a:solidFill>
              </a:rPr>
              <a:t>Full Project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7819" y="652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Communication Diagram showing object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7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1" dirty="0">
                <a:solidFill>
                  <a:srgbClr val="333333"/>
                </a:solidFill>
              </a:rPr>
              <a:t>Full Collaboration Diagram for the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547F4-AC2F-6E28-E6E5-7C3FB8A24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56" y="994243"/>
            <a:ext cx="10175767" cy="52078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82879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Design — Component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675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High-level system component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Component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621020"/>
            <a:ext cx="11704320" cy="3636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UI → User Management, Appointment Management, Queue Management, Staff Service Module, Admin Management Module → Database.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77121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Design — State Diagram: </a:t>
            </a:r>
            <a:r>
              <a:rPr sz="2800" b="1" i="0" dirty="0" err="1">
                <a:solidFill>
                  <a:srgbClr val="FFFFFF"/>
                </a:solidFill>
              </a:rPr>
              <a:t>QueueEntry</a:t>
            </a:r>
            <a:r>
              <a:rPr sz="2800" b="1" i="0" dirty="0">
                <a:solidFill>
                  <a:srgbClr val="FFFFFF"/>
                </a:solidFill>
              </a:rPr>
              <a:t>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263" y="6675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State machine for </a:t>
            </a:r>
            <a:r>
              <a:rPr sz="1200" b="1" i="0" dirty="0" err="1">
                <a:solidFill>
                  <a:schemeClr val="bg1"/>
                </a:solidFill>
              </a:rPr>
              <a:t>QueueEntry</a:t>
            </a:r>
            <a:r>
              <a:rPr sz="1200" b="1" i="0" dirty="0">
                <a:solidFill>
                  <a:schemeClr val="bg1"/>
                </a:solidFill>
              </a:rPr>
              <a:t>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333333"/>
                </a:solidFill>
              </a:rPr>
              <a:t>States: WAITING → CALLED → IN_SERVICE → COMPLETED. Alternative transitions: WAITING→LEFT, WAITING/CALLED→NO_SHOW.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4316D6-B61D-C8DF-B324-2D27EC0F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480" y="1027790"/>
            <a:ext cx="3043944" cy="52315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9604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Architecture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Layered Architecture: UI → Controllers → Services →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OO Patterns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48256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Inheritance: User → Customer / Staff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Composition: Queue ◆── </a:t>
            </a:r>
            <a:r>
              <a:rPr sz="1500" b="0" i="0" dirty="0" err="1">
                <a:solidFill>
                  <a:srgbClr val="1E4D78"/>
                </a:solidFill>
              </a:rPr>
              <a:t>QueueEntry</a:t>
            </a:r>
            <a:endParaRPr sz="1500" b="0" i="0" dirty="0">
              <a:solidFill>
                <a:srgbClr val="1E4D7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MVC-style separation: Boundary / Control / 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90672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Design Artifacts Produced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Use Case, Activity, Domain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8 Sequence (Robustness) Diagrams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9664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Collaboration, Class, Component, State Diagrams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17136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All diagrams authored in </a:t>
            </a:r>
            <a:r>
              <a:rPr sz="1800" b="1" i="0" dirty="0" err="1">
                <a:solidFill>
                  <a:srgbClr val="1A3A5C"/>
                </a:solidFill>
              </a:rPr>
              <a:t>PlantUML</a:t>
            </a:r>
            <a:r>
              <a:rPr sz="1800" b="1" i="0" dirty="0">
                <a:solidFill>
                  <a:srgbClr val="1A3A5C"/>
                </a:solidFill>
              </a:rPr>
              <a:t> and version-controlled via Git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374294" cy="4285488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374294" cy="4572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2514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OO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081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Comprehensive domain and robustness modeling using UML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2912" y="1634208"/>
            <a:ext cx="3374294" cy="4285488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90630" y="1648968"/>
            <a:ext cx="3374294" cy="4572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03332" y="1722600"/>
            <a:ext cx="26974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OO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2" y="2193067"/>
            <a:ext cx="3148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Class, Component, State &amp; Collaboration diagrams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5776" y="1637256"/>
            <a:ext cx="3374294" cy="4285488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15776" y="1637256"/>
            <a:ext cx="3374294" cy="4572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4613" y="1710408"/>
            <a:ext cx="21915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4613" y="2195635"/>
            <a:ext cx="3022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Eliminates physical queues, improves service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C8E8"/>
                </a:solidFill>
              </a:rPr>
              <a:t>Thank You  |  SmartQueue QMS  |  CSCI 6234 Spring 2026  |  Group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886</Words>
  <Application>Microsoft Macintosh PowerPoint</Application>
  <PresentationFormat>Widescreen</PresentationFormat>
  <Paragraphs>120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LNU, Yashika</cp:lastModifiedBy>
  <cp:revision>30</cp:revision>
  <dcterms:created xsi:type="dcterms:W3CDTF">2013-01-27T09:14:16Z</dcterms:created>
  <dcterms:modified xsi:type="dcterms:W3CDTF">2026-02-19T20:02:39Z</dcterms:modified>
  <cp:category/>
</cp:coreProperties>
</file>